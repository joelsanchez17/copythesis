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7" r:id="rId3"/>
    <p:sldId id="259" r:id="rId4"/>
    <p:sldId id="261" r:id="rId5"/>
    <p:sldId id="258" r:id="rId6"/>
    <p:sldId id="260" r:id="rId7"/>
    <p:sldId id="263" r:id="rId8"/>
    <p:sldId id="262" r:id="rId9"/>
    <p:sldId id="264" r:id="rId10"/>
    <p:sldId id="265" r:id="rId11"/>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4F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2" d="100"/>
          <a:sy n="112" d="100"/>
        </p:scale>
        <p:origin x="115"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A687F-5298-F471-F4D2-E41B5392FF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62699CA4-789B-BA43-81CE-16B9C01FE8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ADF78EB2-C438-C532-1A30-113131CED0EE}"/>
              </a:ext>
            </a:extLst>
          </p:cNvPr>
          <p:cNvSpPr>
            <a:spLocks noGrp="1"/>
          </p:cNvSpPr>
          <p:nvPr>
            <p:ph type="dt" sz="half" idx="10"/>
          </p:nvPr>
        </p:nvSpPr>
        <p:spPr/>
        <p:txBody>
          <a:bodyPr/>
          <a:lstStyle/>
          <a:p>
            <a:fld id="{0CCFD652-5274-406A-B24D-4A088D943171}" type="datetimeFigureOut">
              <a:rPr lang="LID4096" smtClean="0"/>
              <a:t>10/23/2024</a:t>
            </a:fld>
            <a:endParaRPr lang="LID4096"/>
          </a:p>
        </p:txBody>
      </p:sp>
      <p:sp>
        <p:nvSpPr>
          <p:cNvPr id="5" name="Footer Placeholder 4">
            <a:extLst>
              <a:ext uri="{FF2B5EF4-FFF2-40B4-BE49-F238E27FC236}">
                <a16:creationId xmlns:a16="http://schemas.microsoft.com/office/drawing/2014/main" id="{0E061F18-1290-8D81-1DCF-B1334BCFDD64}"/>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1E60F55C-E3C7-15D1-CEF0-701336A92B81}"/>
              </a:ext>
            </a:extLst>
          </p:cNvPr>
          <p:cNvSpPr>
            <a:spLocks noGrp="1"/>
          </p:cNvSpPr>
          <p:nvPr>
            <p:ph type="sldNum" sz="quarter" idx="12"/>
          </p:nvPr>
        </p:nvSpPr>
        <p:spPr/>
        <p:txBody>
          <a:bodyPr/>
          <a:lstStyle/>
          <a:p>
            <a:fld id="{3E6E8C40-3AF6-417E-AA68-418AFCFCCF30}" type="slidenum">
              <a:rPr lang="LID4096" smtClean="0"/>
              <a:t>‹#›</a:t>
            </a:fld>
            <a:endParaRPr lang="LID4096"/>
          </a:p>
        </p:txBody>
      </p:sp>
    </p:spTree>
    <p:extLst>
      <p:ext uri="{BB962C8B-B14F-4D97-AF65-F5344CB8AC3E}">
        <p14:creationId xmlns:p14="http://schemas.microsoft.com/office/powerpoint/2010/main" val="320147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724D2-A47F-00C9-9432-66D8E248608B}"/>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333ED8D0-36F0-F923-6F4D-6CE88B900B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201A0BD0-80ED-3F98-E598-CAF27AE44825}"/>
              </a:ext>
            </a:extLst>
          </p:cNvPr>
          <p:cNvSpPr>
            <a:spLocks noGrp="1"/>
          </p:cNvSpPr>
          <p:nvPr>
            <p:ph type="dt" sz="half" idx="10"/>
          </p:nvPr>
        </p:nvSpPr>
        <p:spPr/>
        <p:txBody>
          <a:bodyPr/>
          <a:lstStyle/>
          <a:p>
            <a:fld id="{0CCFD652-5274-406A-B24D-4A088D943171}" type="datetimeFigureOut">
              <a:rPr lang="LID4096" smtClean="0"/>
              <a:t>10/23/2024</a:t>
            </a:fld>
            <a:endParaRPr lang="LID4096"/>
          </a:p>
        </p:txBody>
      </p:sp>
      <p:sp>
        <p:nvSpPr>
          <p:cNvPr id="5" name="Footer Placeholder 4">
            <a:extLst>
              <a:ext uri="{FF2B5EF4-FFF2-40B4-BE49-F238E27FC236}">
                <a16:creationId xmlns:a16="http://schemas.microsoft.com/office/drawing/2014/main" id="{87AA4CFC-7763-B337-1EAB-5183B850246E}"/>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F8FD1AC-8131-EEE9-8D46-E01AFE351269}"/>
              </a:ext>
            </a:extLst>
          </p:cNvPr>
          <p:cNvSpPr>
            <a:spLocks noGrp="1"/>
          </p:cNvSpPr>
          <p:nvPr>
            <p:ph type="sldNum" sz="quarter" idx="12"/>
          </p:nvPr>
        </p:nvSpPr>
        <p:spPr/>
        <p:txBody>
          <a:bodyPr/>
          <a:lstStyle/>
          <a:p>
            <a:fld id="{3E6E8C40-3AF6-417E-AA68-418AFCFCCF30}" type="slidenum">
              <a:rPr lang="LID4096" smtClean="0"/>
              <a:t>‹#›</a:t>
            </a:fld>
            <a:endParaRPr lang="LID4096"/>
          </a:p>
        </p:txBody>
      </p:sp>
    </p:spTree>
    <p:extLst>
      <p:ext uri="{BB962C8B-B14F-4D97-AF65-F5344CB8AC3E}">
        <p14:creationId xmlns:p14="http://schemas.microsoft.com/office/powerpoint/2010/main" val="4020266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DA2A2-EF44-D8E3-1EAF-21A5F85DA6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B9E05FA2-4EE0-D4C4-1AA4-7799551446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BFED0D-0B2F-760E-A216-11378B63E0C0}"/>
              </a:ext>
            </a:extLst>
          </p:cNvPr>
          <p:cNvSpPr>
            <a:spLocks noGrp="1"/>
          </p:cNvSpPr>
          <p:nvPr>
            <p:ph type="dt" sz="half" idx="10"/>
          </p:nvPr>
        </p:nvSpPr>
        <p:spPr/>
        <p:txBody>
          <a:bodyPr/>
          <a:lstStyle/>
          <a:p>
            <a:fld id="{0CCFD652-5274-406A-B24D-4A088D943171}" type="datetimeFigureOut">
              <a:rPr lang="LID4096" smtClean="0"/>
              <a:t>10/23/2024</a:t>
            </a:fld>
            <a:endParaRPr lang="LID4096"/>
          </a:p>
        </p:txBody>
      </p:sp>
      <p:sp>
        <p:nvSpPr>
          <p:cNvPr id="5" name="Footer Placeholder 4">
            <a:extLst>
              <a:ext uri="{FF2B5EF4-FFF2-40B4-BE49-F238E27FC236}">
                <a16:creationId xmlns:a16="http://schemas.microsoft.com/office/drawing/2014/main" id="{E806C50E-810D-1DAA-82E8-2461674BD681}"/>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C5105CBC-7F51-FF4F-CF2F-5A62C34F413F}"/>
              </a:ext>
            </a:extLst>
          </p:cNvPr>
          <p:cNvSpPr>
            <a:spLocks noGrp="1"/>
          </p:cNvSpPr>
          <p:nvPr>
            <p:ph type="sldNum" sz="quarter" idx="12"/>
          </p:nvPr>
        </p:nvSpPr>
        <p:spPr/>
        <p:txBody>
          <a:bodyPr/>
          <a:lstStyle/>
          <a:p>
            <a:fld id="{3E6E8C40-3AF6-417E-AA68-418AFCFCCF30}" type="slidenum">
              <a:rPr lang="LID4096" smtClean="0"/>
              <a:t>‹#›</a:t>
            </a:fld>
            <a:endParaRPr lang="LID4096"/>
          </a:p>
        </p:txBody>
      </p:sp>
    </p:spTree>
    <p:extLst>
      <p:ext uri="{BB962C8B-B14F-4D97-AF65-F5344CB8AC3E}">
        <p14:creationId xmlns:p14="http://schemas.microsoft.com/office/powerpoint/2010/main" val="3223528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72EEF-FA97-3F0F-DFEA-EA8F1121775C}"/>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F1287092-2B1A-D6F1-6FFA-037D5C8E3E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39100699-064D-A792-A2F7-51AA93550E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03E9F325-EAFF-FD96-C3B5-FF896EB3DCA6}"/>
              </a:ext>
            </a:extLst>
          </p:cNvPr>
          <p:cNvSpPr>
            <a:spLocks noGrp="1"/>
          </p:cNvSpPr>
          <p:nvPr>
            <p:ph type="dt" sz="half" idx="10"/>
          </p:nvPr>
        </p:nvSpPr>
        <p:spPr/>
        <p:txBody>
          <a:bodyPr/>
          <a:lstStyle/>
          <a:p>
            <a:fld id="{0CCFD652-5274-406A-B24D-4A088D943171}" type="datetimeFigureOut">
              <a:rPr lang="LID4096" smtClean="0"/>
              <a:t>10/23/2024</a:t>
            </a:fld>
            <a:endParaRPr lang="LID4096"/>
          </a:p>
        </p:txBody>
      </p:sp>
      <p:sp>
        <p:nvSpPr>
          <p:cNvPr id="6" name="Footer Placeholder 5">
            <a:extLst>
              <a:ext uri="{FF2B5EF4-FFF2-40B4-BE49-F238E27FC236}">
                <a16:creationId xmlns:a16="http://schemas.microsoft.com/office/drawing/2014/main" id="{913CD45B-FBB2-8DBB-76CB-2F380DA88672}"/>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689AF9F1-F7D1-0563-FD5B-1340680D6109}"/>
              </a:ext>
            </a:extLst>
          </p:cNvPr>
          <p:cNvSpPr>
            <a:spLocks noGrp="1"/>
          </p:cNvSpPr>
          <p:nvPr>
            <p:ph type="sldNum" sz="quarter" idx="12"/>
          </p:nvPr>
        </p:nvSpPr>
        <p:spPr/>
        <p:txBody>
          <a:bodyPr/>
          <a:lstStyle/>
          <a:p>
            <a:fld id="{3E6E8C40-3AF6-417E-AA68-418AFCFCCF30}" type="slidenum">
              <a:rPr lang="LID4096" smtClean="0"/>
              <a:t>‹#›</a:t>
            </a:fld>
            <a:endParaRPr lang="LID4096"/>
          </a:p>
        </p:txBody>
      </p:sp>
    </p:spTree>
    <p:extLst>
      <p:ext uri="{BB962C8B-B14F-4D97-AF65-F5344CB8AC3E}">
        <p14:creationId xmlns:p14="http://schemas.microsoft.com/office/powerpoint/2010/main" val="3787848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194AE-E77D-A87A-D543-16F21F1E8B87}"/>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E83DB60E-8E99-3532-34C9-5452FA693E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659BF8-482B-8222-6916-0D4267E71A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01728F51-E61B-9986-F281-64981E0D45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CFF0FB-C7C7-5F30-1529-2E24F0B76D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7C07CDD7-96EA-8896-4944-F6B57E846FF5}"/>
              </a:ext>
            </a:extLst>
          </p:cNvPr>
          <p:cNvSpPr>
            <a:spLocks noGrp="1"/>
          </p:cNvSpPr>
          <p:nvPr>
            <p:ph type="dt" sz="half" idx="10"/>
          </p:nvPr>
        </p:nvSpPr>
        <p:spPr/>
        <p:txBody>
          <a:bodyPr/>
          <a:lstStyle/>
          <a:p>
            <a:fld id="{0CCFD652-5274-406A-B24D-4A088D943171}" type="datetimeFigureOut">
              <a:rPr lang="LID4096" smtClean="0"/>
              <a:t>10/23/2024</a:t>
            </a:fld>
            <a:endParaRPr lang="LID4096"/>
          </a:p>
        </p:txBody>
      </p:sp>
      <p:sp>
        <p:nvSpPr>
          <p:cNvPr id="8" name="Footer Placeholder 7">
            <a:extLst>
              <a:ext uri="{FF2B5EF4-FFF2-40B4-BE49-F238E27FC236}">
                <a16:creationId xmlns:a16="http://schemas.microsoft.com/office/drawing/2014/main" id="{B64B41EF-4AA9-191E-81C4-D384E9E91879}"/>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2FA5B548-585B-15B5-6D03-D1E17FE08423}"/>
              </a:ext>
            </a:extLst>
          </p:cNvPr>
          <p:cNvSpPr>
            <a:spLocks noGrp="1"/>
          </p:cNvSpPr>
          <p:nvPr>
            <p:ph type="sldNum" sz="quarter" idx="12"/>
          </p:nvPr>
        </p:nvSpPr>
        <p:spPr/>
        <p:txBody>
          <a:bodyPr/>
          <a:lstStyle/>
          <a:p>
            <a:fld id="{3E6E8C40-3AF6-417E-AA68-418AFCFCCF30}" type="slidenum">
              <a:rPr lang="LID4096" smtClean="0"/>
              <a:t>‹#›</a:t>
            </a:fld>
            <a:endParaRPr lang="LID4096"/>
          </a:p>
        </p:txBody>
      </p:sp>
    </p:spTree>
    <p:extLst>
      <p:ext uri="{BB962C8B-B14F-4D97-AF65-F5344CB8AC3E}">
        <p14:creationId xmlns:p14="http://schemas.microsoft.com/office/powerpoint/2010/main" val="2757665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2F10A-AD19-BBAF-7273-285FC9BC1A7C}"/>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DE089DCE-6E64-E109-7631-70F0D331CA78}"/>
              </a:ext>
            </a:extLst>
          </p:cNvPr>
          <p:cNvSpPr>
            <a:spLocks noGrp="1"/>
          </p:cNvSpPr>
          <p:nvPr>
            <p:ph type="dt" sz="half" idx="10"/>
          </p:nvPr>
        </p:nvSpPr>
        <p:spPr/>
        <p:txBody>
          <a:bodyPr/>
          <a:lstStyle/>
          <a:p>
            <a:fld id="{0CCFD652-5274-406A-B24D-4A088D943171}" type="datetimeFigureOut">
              <a:rPr lang="LID4096" smtClean="0"/>
              <a:t>10/23/2024</a:t>
            </a:fld>
            <a:endParaRPr lang="LID4096"/>
          </a:p>
        </p:txBody>
      </p:sp>
      <p:sp>
        <p:nvSpPr>
          <p:cNvPr id="4" name="Footer Placeholder 3">
            <a:extLst>
              <a:ext uri="{FF2B5EF4-FFF2-40B4-BE49-F238E27FC236}">
                <a16:creationId xmlns:a16="http://schemas.microsoft.com/office/drawing/2014/main" id="{F541FD3D-C567-8BBA-D132-934C603A4B1C}"/>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0BBF04CB-DD51-E175-9E77-655DBECDEAF6}"/>
              </a:ext>
            </a:extLst>
          </p:cNvPr>
          <p:cNvSpPr>
            <a:spLocks noGrp="1"/>
          </p:cNvSpPr>
          <p:nvPr>
            <p:ph type="sldNum" sz="quarter" idx="12"/>
          </p:nvPr>
        </p:nvSpPr>
        <p:spPr/>
        <p:txBody>
          <a:bodyPr/>
          <a:lstStyle/>
          <a:p>
            <a:fld id="{3E6E8C40-3AF6-417E-AA68-418AFCFCCF30}" type="slidenum">
              <a:rPr lang="LID4096" smtClean="0"/>
              <a:t>‹#›</a:t>
            </a:fld>
            <a:endParaRPr lang="LID4096"/>
          </a:p>
        </p:txBody>
      </p:sp>
    </p:spTree>
    <p:extLst>
      <p:ext uri="{BB962C8B-B14F-4D97-AF65-F5344CB8AC3E}">
        <p14:creationId xmlns:p14="http://schemas.microsoft.com/office/powerpoint/2010/main" val="3877381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FA7224-B13C-66E8-499B-8CB68FFFD77D}"/>
              </a:ext>
            </a:extLst>
          </p:cNvPr>
          <p:cNvSpPr>
            <a:spLocks noGrp="1"/>
          </p:cNvSpPr>
          <p:nvPr>
            <p:ph type="dt" sz="half" idx="10"/>
          </p:nvPr>
        </p:nvSpPr>
        <p:spPr/>
        <p:txBody>
          <a:bodyPr/>
          <a:lstStyle/>
          <a:p>
            <a:fld id="{0CCFD652-5274-406A-B24D-4A088D943171}" type="datetimeFigureOut">
              <a:rPr lang="LID4096" smtClean="0"/>
              <a:t>10/23/2024</a:t>
            </a:fld>
            <a:endParaRPr lang="LID4096"/>
          </a:p>
        </p:txBody>
      </p:sp>
      <p:sp>
        <p:nvSpPr>
          <p:cNvPr id="3" name="Footer Placeholder 2">
            <a:extLst>
              <a:ext uri="{FF2B5EF4-FFF2-40B4-BE49-F238E27FC236}">
                <a16:creationId xmlns:a16="http://schemas.microsoft.com/office/drawing/2014/main" id="{44EDD53B-EDC2-A371-7235-18E008842747}"/>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D3CF690D-CD37-3873-2621-39D28DFCAA7C}"/>
              </a:ext>
            </a:extLst>
          </p:cNvPr>
          <p:cNvSpPr>
            <a:spLocks noGrp="1"/>
          </p:cNvSpPr>
          <p:nvPr>
            <p:ph type="sldNum" sz="quarter" idx="12"/>
          </p:nvPr>
        </p:nvSpPr>
        <p:spPr/>
        <p:txBody>
          <a:bodyPr/>
          <a:lstStyle/>
          <a:p>
            <a:fld id="{3E6E8C40-3AF6-417E-AA68-418AFCFCCF30}" type="slidenum">
              <a:rPr lang="LID4096" smtClean="0"/>
              <a:t>‹#›</a:t>
            </a:fld>
            <a:endParaRPr lang="LID4096"/>
          </a:p>
        </p:txBody>
      </p:sp>
    </p:spTree>
    <p:extLst>
      <p:ext uri="{BB962C8B-B14F-4D97-AF65-F5344CB8AC3E}">
        <p14:creationId xmlns:p14="http://schemas.microsoft.com/office/powerpoint/2010/main" val="2573885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14DC3-461F-75AA-8E02-A834B8C304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09844D95-6454-20D9-BAFC-8A3BB8A947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41C5A4FE-D1C1-82BB-BF8F-431ADA0062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535BD9-1018-E232-2429-CEF622EEDBBD}"/>
              </a:ext>
            </a:extLst>
          </p:cNvPr>
          <p:cNvSpPr>
            <a:spLocks noGrp="1"/>
          </p:cNvSpPr>
          <p:nvPr>
            <p:ph type="dt" sz="half" idx="10"/>
          </p:nvPr>
        </p:nvSpPr>
        <p:spPr/>
        <p:txBody>
          <a:bodyPr/>
          <a:lstStyle/>
          <a:p>
            <a:fld id="{0CCFD652-5274-406A-B24D-4A088D943171}" type="datetimeFigureOut">
              <a:rPr lang="LID4096" smtClean="0"/>
              <a:t>10/23/2024</a:t>
            </a:fld>
            <a:endParaRPr lang="LID4096"/>
          </a:p>
        </p:txBody>
      </p:sp>
      <p:sp>
        <p:nvSpPr>
          <p:cNvPr id="6" name="Footer Placeholder 5">
            <a:extLst>
              <a:ext uri="{FF2B5EF4-FFF2-40B4-BE49-F238E27FC236}">
                <a16:creationId xmlns:a16="http://schemas.microsoft.com/office/drawing/2014/main" id="{FD9C1535-546E-4D86-1766-7932CC4C7BEF}"/>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57E2B4ED-A615-4F1B-DD4F-343AE469FB28}"/>
              </a:ext>
            </a:extLst>
          </p:cNvPr>
          <p:cNvSpPr>
            <a:spLocks noGrp="1"/>
          </p:cNvSpPr>
          <p:nvPr>
            <p:ph type="sldNum" sz="quarter" idx="12"/>
          </p:nvPr>
        </p:nvSpPr>
        <p:spPr/>
        <p:txBody>
          <a:bodyPr/>
          <a:lstStyle/>
          <a:p>
            <a:fld id="{3E6E8C40-3AF6-417E-AA68-418AFCFCCF30}" type="slidenum">
              <a:rPr lang="LID4096" smtClean="0"/>
              <a:t>‹#›</a:t>
            </a:fld>
            <a:endParaRPr lang="LID4096"/>
          </a:p>
        </p:txBody>
      </p:sp>
    </p:spTree>
    <p:extLst>
      <p:ext uri="{BB962C8B-B14F-4D97-AF65-F5344CB8AC3E}">
        <p14:creationId xmlns:p14="http://schemas.microsoft.com/office/powerpoint/2010/main" val="2103095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C1C87-A9BC-2E3A-2B17-9EC09EE379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DB08EA68-FA3E-1D31-D24B-1E38B4AC37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0CCB605B-808E-BFAD-31EC-9D4B5C68C1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F3757-A307-E3C6-8B07-8A796D9DCE68}"/>
              </a:ext>
            </a:extLst>
          </p:cNvPr>
          <p:cNvSpPr>
            <a:spLocks noGrp="1"/>
          </p:cNvSpPr>
          <p:nvPr>
            <p:ph type="dt" sz="half" idx="10"/>
          </p:nvPr>
        </p:nvSpPr>
        <p:spPr/>
        <p:txBody>
          <a:bodyPr/>
          <a:lstStyle/>
          <a:p>
            <a:fld id="{0CCFD652-5274-406A-B24D-4A088D943171}" type="datetimeFigureOut">
              <a:rPr lang="LID4096" smtClean="0"/>
              <a:t>10/23/2024</a:t>
            </a:fld>
            <a:endParaRPr lang="LID4096"/>
          </a:p>
        </p:txBody>
      </p:sp>
      <p:sp>
        <p:nvSpPr>
          <p:cNvPr id="6" name="Footer Placeholder 5">
            <a:extLst>
              <a:ext uri="{FF2B5EF4-FFF2-40B4-BE49-F238E27FC236}">
                <a16:creationId xmlns:a16="http://schemas.microsoft.com/office/drawing/2014/main" id="{E24D3C16-F4CF-C24D-8E9E-A34D928DD513}"/>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E50078EA-99C7-7E15-7AD3-C084E382C5B4}"/>
              </a:ext>
            </a:extLst>
          </p:cNvPr>
          <p:cNvSpPr>
            <a:spLocks noGrp="1"/>
          </p:cNvSpPr>
          <p:nvPr>
            <p:ph type="sldNum" sz="quarter" idx="12"/>
          </p:nvPr>
        </p:nvSpPr>
        <p:spPr/>
        <p:txBody>
          <a:bodyPr/>
          <a:lstStyle/>
          <a:p>
            <a:fld id="{3E6E8C40-3AF6-417E-AA68-418AFCFCCF30}" type="slidenum">
              <a:rPr lang="LID4096" smtClean="0"/>
              <a:t>‹#›</a:t>
            </a:fld>
            <a:endParaRPr lang="LID4096"/>
          </a:p>
        </p:txBody>
      </p:sp>
    </p:spTree>
    <p:extLst>
      <p:ext uri="{BB962C8B-B14F-4D97-AF65-F5344CB8AC3E}">
        <p14:creationId xmlns:p14="http://schemas.microsoft.com/office/powerpoint/2010/main" val="1716463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4ECDD-F268-5B2D-5A3D-22CB31BCDFFF}"/>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99BB7A75-8640-7019-9F2D-9DBEDE2C16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9A35E9C-9BC2-85DA-E841-BE3958F4863A}"/>
              </a:ext>
            </a:extLst>
          </p:cNvPr>
          <p:cNvSpPr>
            <a:spLocks noGrp="1"/>
          </p:cNvSpPr>
          <p:nvPr>
            <p:ph type="dt" sz="half" idx="10"/>
          </p:nvPr>
        </p:nvSpPr>
        <p:spPr/>
        <p:txBody>
          <a:bodyPr/>
          <a:lstStyle/>
          <a:p>
            <a:fld id="{0CCFD652-5274-406A-B24D-4A088D943171}" type="datetimeFigureOut">
              <a:rPr lang="LID4096" smtClean="0"/>
              <a:t>10/23/2024</a:t>
            </a:fld>
            <a:endParaRPr lang="LID4096"/>
          </a:p>
        </p:txBody>
      </p:sp>
      <p:sp>
        <p:nvSpPr>
          <p:cNvPr id="5" name="Footer Placeholder 4">
            <a:extLst>
              <a:ext uri="{FF2B5EF4-FFF2-40B4-BE49-F238E27FC236}">
                <a16:creationId xmlns:a16="http://schemas.microsoft.com/office/drawing/2014/main" id="{EBFEFA43-D6B7-45A2-5D4D-30008CC8A085}"/>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F2B3C33D-11C7-D98B-61F6-A5EAF83C03FB}"/>
              </a:ext>
            </a:extLst>
          </p:cNvPr>
          <p:cNvSpPr>
            <a:spLocks noGrp="1"/>
          </p:cNvSpPr>
          <p:nvPr>
            <p:ph type="sldNum" sz="quarter" idx="12"/>
          </p:nvPr>
        </p:nvSpPr>
        <p:spPr/>
        <p:txBody>
          <a:bodyPr/>
          <a:lstStyle/>
          <a:p>
            <a:fld id="{3E6E8C40-3AF6-417E-AA68-418AFCFCCF30}" type="slidenum">
              <a:rPr lang="LID4096" smtClean="0"/>
              <a:t>‹#›</a:t>
            </a:fld>
            <a:endParaRPr lang="LID4096"/>
          </a:p>
        </p:txBody>
      </p:sp>
    </p:spTree>
    <p:extLst>
      <p:ext uri="{BB962C8B-B14F-4D97-AF65-F5344CB8AC3E}">
        <p14:creationId xmlns:p14="http://schemas.microsoft.com/office/powerpoint/2010/main" val="862987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575F8E-ADED-672D-E96F-304B862AF8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36AC2CB0-3AF1-E922-7C8F-69E7788056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9D19AD1-EE94-3868-AA33-704CE204DFDE}"/>
              </a:ext>
            </a:extLst>
          </p:cNvPr>
          <p:cNvSpPr>
            <a:spLocks noGrp="1"/>
          </p:cNvSpPr>
          <p:nvPr>
            <p:ph type="dt" sz="half" idx="10"/>
          </p:nvPr>
        </p:nvSpPr>
        <p:spPr/>
        <p:txBody>
          <a:bodyPr/>
          <a:lstStyle/>
          <a:p>
            <a:fld id="{0CCFD652-5274-406A-B24D-4A088D943171}" type="datetimeFigureOut">
              <a:rPr lang="LID4096" smtClean="0"/>
              <a:t>10/23/2024</a:t>
            </a:fld>
            <a:endParaRPr lang="LID4096"/>
          </a:p>
        </p:txBody>
      </p:sp>
      <p:sp>
        <p:nvSpPr>
          <p:cNvPr id="5" name="Footer Placeholder 4">
            <a:extLst>
              <a:ext uri="{FF2B5EF4-FFF2-40B4-BE49-F238E27FC236}">
                <a16:creationId xmlns:a16="http://schemas.microsoft.com/office/drawing/2014/main" id="{A5F3BC93-1228-F6F2-3121-DAA8A9253EC8}"/>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921B52C-7FC1-33F2-C19A-ABABBFDE6914}"/>
              </a:ext>
            </a:extLst>
          </p:cNvPr>
          <p:cNvSpPr>
            <a:spLocks noGrp="1"/>
          </p:cNvSpPr>
          <p:nvPr>
            <p:ph type="sldNum" sz="quarter" idx="12"/>
          </p:nvPr>
        </p:nvSpPr>
        <p:spPr/>
        <p:txBody>
          <a:bodyPr/>
          <a:lstStyle/>
          <a:p>
            <a:fld id="{3E6E8C40-3AF6-417E-AA68-418AFCFCCF30}" type="slidenum">
              <a:rPr lang="LID4096" smtClean="0"/>
              <a:t>‹#›</a:t>
            </a:fld>
            <a:endParaRPr lang="LID4096"/>
          </a:p>
        </p:txBody>
      </p:sp>
    </p:spTree>
    <p:extLst>
      <p:ext uri="{BB962C8B-B14F-4D97-AF65-F5344CB8AC3E}">
        <p14:creationId xmlns:p14="http://schemas.microsoft.com/office/powerpoint/2010/main" val="2817027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CB67C-18D4-17D5-7FF2-C7D2585526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761EDD96-F1CE-5E49-235D-8A8761C879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2215E62E-D99C-78CE-8059-2B58C2F1AA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CFD652-5274-406A-B24D-4A088D943171}" type="datetimeFigureOut">
              <a:rPr lang="LID4096" smtClean="0"/>
              <a:t>10/23/2024</a:t>
            </a:fld>
            <a:endParaRPr lang="LID4096"/>
          </a:p>
        </p:txBody>
      </p:sp>
      <p:sp>
        <p:nvSpPr>
          <p:cNvPr id="5" name="Footer Placeholder 4">
            <a:extLst>
              <a:ext uri="{FF2B5EF4-FFF2-40B4-BE49-F238E27FC236}">
                <a16:creationId xmlns:a16="http://schemas.microsoft.com/office/drawing/2014/main" id="{E8A8C484-7FB9-D314-6CE2-C4BA259107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B32A778C-487F-2497-3A22-C5A9DF205D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6E8C40-3AF6-417E-AA68-418AFCFCCF30}" type="slidenum">
              <a:rPr lang="LID4096" smtClean="0"/>
              <a:t>‹#›</a:t>
            </a:fld>
            <a:endParaRPr lang="LID4096"/>
          </a:p>
        </p:txBody>
      </p:sp>
    </p:spTree>
    <p:extLst>
      <p:ext uri="{BB962C8B-B14F-4D97-AF65-F5344CB8AC3E}">
        <p14:creationId xmlns:p14="http://schemas.microsoft.com/office/powerpoint/2010/main" val="4291026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4CD4C-A83C-EA45-1E11-793181A3FFA1}"/>
              </a:ext>
            </a:extLst>
          </p:cNvPr>
          <p:cNvSpPr>
            <a:spLocks noGrp="1"/>
          </p:cNvSpPr>
          <p:nvPr>
            <p:ph type="ctrTitle"/>
          </p:nvPr>
        </p:nvSpPr>
        <p:spPr/>
        <p:txBody>
          <a:bodyPr/>
          <a:lstStyle/>
          <a:p>
            <a:r>
              <a:rPr lang="en-US" dirty="0"/>
              <a:t>README</a:t>
            </a:r>
            <a:endParaRPr lang="LID4096" dirty="0"/>
          </a:p>
        </p:txBody>
      </p:sp>
      <p:sp>
        <p:nvSpPr>
          <p:cNvPr id="3" name="Subtitle 2">
            <a:extLst>
              <a:ext uri="{FF2B5EF4-FFF2-40B4-BE49-F238E27FC236}">
                <a16:creationId xmlns:a16="http://schemas.microsoft.com/office/drawing/2014/main" id="{62D3AF20-DE24-C6EC-82D7-186B5B96CCBC}"/>
              </a:ext>
            </a:extLst>
          </p:cNvPr>
          <p:cNvSpPr>
            <a:spLocks noGrp="1"/>
          </p:cNvSpPr>
          <p:nvPr>
            <p:ph type="subTitle" idx="1"/>
          </p:nvPr>
        </p:nvSpPr>
        <p:spPr/>
        <p:txBody>
          <a:bodyPr/>
          <a:lstStyle/>
          <a:p>
            <a:r>
              <a:rPr lang="en-US" dirty="0"/>
              <a:t>General instructions and comments</a:t>
            </a:r>
            <a:endParaRPr lang="LID4096" dirty="0"/>
          </a:p>
        </p:txBody>
      </p:sp>
      <p:pic>
        <p:nvPicPr>
          <p:cNvPr id="6" name="Picture 5">
            <a:extLst>
              <a:ext uri="{FF2B5EF4-FFF2-40B4-BE49-F238E27FC236}">
                <a16:creationId xmlns:a16="http://schemas.microsoft.com/office/drawing/2014/main" id="{EDBE0C0A-2F63-F231-06D4-5BE44499D38E}"/>
              </a:ext>
            </a:extLst>
          </p:cNvPr>
          <p:cNvPicPr>
            <a:picLocks noChangeAspect="1"/>
          </p:cNvPicPr>
          <p:nvPr/>
        </p:nvPicPr>
        <p:blipFill>
          <a:blip r:embed="rId2"/>
          <a:stretch>
            <a:fillRect/>
          </a:stretch>
        </p:blipFill>
        <p:spPr>
          <a:xfrm>
            <a:off x="5418161" y="1030288"/>
            <a:ext cx="1355677" cy="1524724"/>
          </a:xfrm>
          <a:prstGeom prst="rect">
            <a:avLst/>
          </a:prstGeom>
        </p:spPr>
      </p:pic>
    </p:spTree>
    <p:extLst>
      <p:ext uri="{BB962C8B-B14F-4D97-AF65-F5344CB8AC3E}">
        <p14:creationId xmlns:p14="http://schemas.microsoft.com/office/powerpoint/2010/main" val="1896460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29DA85-586C-5B0D-6DC0-7FD4AB7CCA15}"/>
              </a:ext>
            </a:extLst>
          </p:cNvPr>
          <p:cNvPicPr>
            <a:picLocks noChangeAspect="1"/>
          </p:cNvPicPr>
          <p:nvPr/>
        </p:nvPicPr>
        <p:blipFill>
          <a:blip r:embed="rId2"/>
          <a:stretch>
            <a:fillRect/>
          </a:stretch>
        </p:blipFill>
        <p:spPr>
          <a:xfrm>
            <a:off x="319525" y="1048894"/>
            <a:ext cx="7294500" cy="3679050"/>
          </a:xfrm>
          <a:prstGeom prst="rect">
            <a:avLst/>
          </a:prstGeom>
        </p:spPr>
      </p:pic>
      <p:sp>
        <p:nvSpPr>
          <p:cNvPr id="8" name="AutoShape 6">
            <a:extLst>
              <a:ext uri="{FF2B5EF4-FFF2-40B4-BE49-F238E27FC236}">
                <a16:creationId xmlns:a16="http://schemas.microsoft.com/office/drawing/2014/main" id="{6CCF1755-57C8-AEFF-6A11-EEF2B3184941}"/>
              </a:ext>
            </a:extLst>
          </p:cNvPr>
          <p:cNvSpPr>
            <a:spLocks noChangeAspect="1" noChangeArrowheads="1"/>
          </p:cNvSpPr>
          <p:nvPr/>
        </p:nvSpPr>
        <p:spPr bwMode="auto">
          <a:xfrm>
            <a:off x="914400" y="2301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2" name="Rectangle 11">
            <a:extLst>
              <a:ext uri="{FF2B5EF4-FFF2-40B4-BE49-F238E27FC236}">
                <a16:creationId xmlns:a16="http://schemas.microsoft.com/office/drawing/2014/main" id="{1AE9AFDB-C593-79D5-C804-E7C3E64561F3}"/>
              </a:ext>
            </a:extLst>
          </p:cNvPr>
          <p:cNvSpPr/>
          <p:nvPr/>
        </p:nvSpPr>
        <p:spPr>
          <a:xfrm>
            <a:off x="272485" y="84320"/>
            <a:ext cx="2828109" cy="36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Data sent is the depth images using shared memory (</a:t>
            </a:r>
            <a:r>
              <a:rPr lang="en-US" sz="1100" dirty="0" err="1"/>
              <a:t>interprocess</a:t>
            </a:r>
            <a:r>
              <a:rPr lang="en-US" sz="1100" dirty="0"/>
              <a:t> </a:t>
            </a:r>
            <a:r>
              <a:rPr lang="en-US" sz="1100" dirty="0" err="1"/>
              <a:t>Numpy</a:t>
            </a:r>
            <a:r>
              <a:rPr lang="en-US" sz="1100" dirty="0"/>
              <a:t> arrays</a:t>
            </a:r>
          </a:p>
        </p:txBody>
      </p:sp>
      <p:cxnSp>
        <p:nvCxnSpPr>
          <p:cNvPr id="14" name="Straight Arrow Connector 13">
            <a:extLst>
              <a:ext uri="{FF2B5EF4-FFF2-40B4-BE49-F238E27FC236}">
                <a16:creationId xmlns:a16="http://schemas.microsoft.com/office/drawing/2014/main" id="{60524DE7-A982-975D-388E-D46A1293C6E5}"/>
              </a:ext>
            </a:extLst>
          </p:cNvPr>
          <p:cNvCxnSpPr>
            <a:cxnSpLocks/>
            <a:stCxn id="28" idx="0"/>
            <a:endCxn id="12" idx="2"/>
          </p:cNvCxnSpPr>
          <p:nvPr/>
        </p:nvCxnSpPr>
        <p:spPr>
          <a:xfrm flipV="1">
            <a:off x="1666946" y="449120"/>
            <a:ext cx="19594" cy="7853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Rectangle 18">
            <a:extLst>
              <a:ext uri="{FF2B5EF4-FFF2-40B4-BE49-F238E27FC236}">
                <a16:creationId xmlns:a16="http://schemas.microsoft.com/office/drawing/2014/main" id="{2464399B-6739-9D89-45BB-25AEE7A4D25E}"/>
              </a:ext>
            </a:extLst>
          </p:cNvPr>
          <p:cNvSpPr/>
          <p:nvPr/>
        </p:nvSpPr>
        <p:spPr>
          <a:xfrm>
            <a:off x="319525" y="842554"/>
            <a:ext cx="1347421" cy="2743200"/>
          </a:xfrm>
          <a:prstGeom prst="rect">
            <a:avLst/>
          </a:prstGeom>
          <a:solidFill>
            <a:srgbClr val="C04F15">
              <a:alpha val="20000"/>
            </a:srgbClr>
          </a:solid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100" dirty="0">
                <a:solidFill>
                  <a:srgbClr val="FF0000"/>
                </a:solidFill>
              </a:rPr>
              <a:t>Realsense_i.py</a:t>
            </a:r>
          </a:p>
        </p:txBody>
      </p:sp>
      <p:sp>
        <p:nvSpPr>
          <p:cNvPr id="20" name="Rectangle 19">
            <a:extLst>
              <a:ext uri="{FF2B5EF4-FFF2-40B4-BE49-F238E27FC236}">
                <a16:creationId xmlns:a16="http://schemas.microsoft.com/office/drawing/2014/main" id="{70685112-E1DF-9A72-0AA8-F66B22AF4A30}"/>
              </a:ext>
            </a:extLst>
          </p:cNvPr>
          <p:cNvSpPr/>
          <p:nvPr/>
        </p:nvSpPr>
        <p:spPr>
          <a:xfrm>
            <a:off x="1743891" y="655460"/>
            <a:ext cx="2704012" cy="1262050"/>
          </a:xfrm>
          <a:prstGeom prst="rect">
            <a:avLst/>
          </a:prstGeom>
          <a:solidFill>
            <a:srgbClr val="C04F15">
              <a:alpha val="20000"/>
            </a:srgbClr>
          </a:solid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dirty="0" err="1">
                <a:solidFill>
                  <a:srgbClr val="FF0000"/>
                </a:solidFill>
              </a:rPr>
              <a:t>point_cloud_processing.ipynb</a:t>
            </a:r>
            <a:endParaRPr lang="en-US" sz="1200" dirty="0">
              <a:solidFill>
                <a:srgbClr val="FF0000"/>
              </a:solidFill>
            </a:endParaRPr>
          </a:p>
          <a:p>
            <a:pPr algn="ctr"/>
            <a:endParaRPr lang="en-US" sz="1200" dirty="0"/>
          </a:p>
          <a:p>
            <a:pPr algn="ctr"/>
            <a:endParaRPr lang="en-US" sz="1200" dirty="0"/>
          </a:p>
          <a:p>
            <a:pPr algn="ctr"/>
            <a:endParaRPr lang="en-US" sz="1200" dirty="0"/>
          </a:p>
          <a:p>
            <a:pPr algn="ctr"/>
            <a:endParaRPr lang="en-US" sz="1200" dirty="0"/>
          </a:p>
          <a:p>
            <a:pPr algn="ctr"/>
            <a:endParaRPr lang="LID4096" sz="1200" dirty="0"/>
          </a:p>
        </p:txBody>
      </p:sp>
      <p:sp>
        <p:nvSpPr>
          <p:cNvPr id="28" name="Oval 27">
            <a:extLst>
              <a:ext uri="{FF2B5EF4-FFF2-40B4-BE49-F238E27FC236}">
                <a16:creationId xmlns:a16="http://schemas.microsoft.com/office/drawing/2014/main" id="{F202242A-1F6B-F5C7-A458-C722A367FCB7}"/>
              </a:ext>
            </a:extLst>
          </p:cNvPr>
          <p:cNvSpPr/>
          <p:nvPr/>
        </p:nvSpPr>
        <p:spPr>
          <a:xfrm>
            <a:off x="1506926" y="1234439"/>
            <a:ext cx="320040" cy="313509"/>
          </a:xfrm>
          <a:custGeom>
            <a:avLst/>
            <a:gdLst>
              <a:gd name="connsiteX0" fmla="*/ 0 w 320040"/>
              <a:gd name="connsiteY0" fmla="*/ 156755 h 313509"/>
              <a:gd name="connsiteX1" fmla="*/ 160020 w 320040"/>
              <a:gd name="connsiteY1" fmla="*/ 0 h 313509"/>
              <a:gd name="connsiteX2" fmla="*/ 320040 w 320040"/>
              <a:gd name="connsiteY2" fmla="*/ 156755 h 313509"/>
              <a:gd name="connsiteX3" fmla="*/ 160020 w 320040"/>
              <a:gd name="connsiteY3" fmla="*/ 313510 h 313509"/>
              <a:gd name="connsiteX4" fmla="*/ 0 w 320040"/>
              <a:gd name="connsiteY4" fmla="*/ 156755 h 313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040" h="313509" extrusionOk="0">
                <a:moveTo>
                  <a:pt x="0" y="156755"/>
                </a:moveTo>
                <a:cubicBezTo>
                  <a:pt x="-11610" y="63021"/>
                  <a:pt x="47887" y="8916"/>
                  <a:pt x="160020" y="0"/>
                </a:cubicBezTo>
                <a:cubicBezTo>
                  <a:pt x="264693" y="3431"/>
                  <a:pt x="303457" y="70709"/>
                  <a:pt x="320040" y="156755"/>
                </a:cubicBezTo>
                <a:cubicBezTo>
                  <a:pt x="315144" y="248109"/>
                  <a:pt x="246862" y="321993"/>
                  <a:pt x="160020" y="313510"/>
                </a:cubicBezTo>
                <a:cubicBezTo>
                  <a:pt x="53830" y="303764"/>
                  <a:pt x="21622" y="253659"/>
                  <a:pt x="0" y="156755"/>
                </a:cubicBezTo>
                <a:close/>
              </a:path>
            </a:pathLst>
          </a:custGeom>
          <a:noFill/>
          <a:ln w="38100" cap="flat" cmpd="tri" algn="ctr">
            <a:solidFill>
              <a:schemeClr val="accent4"/>
            </a:solidFill>
            <a:prstDash val="solid"/>
            <a:round/>
            <a:headEnd type="none" w="med" len="med"/>
            <a:tailEnd type="none" w="med" len="med"/>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0">
            <a:scrgbClr r="0" g="0" b="0"/>
          </a:lnRef>
          <a:fillRef idx="0">
            <a:scrgbClr r="0" g="0" b="0"/>
          </a:fillRef>
          <a:effectRef idx="0">
            <a:scrgbClr r="0" g="0" b="0"/>
          </a:effectRef>
          <a:fontRef idx="minor">
            <a:schemeClr val="accent4"/>
          </a:fontRef>
        </p:style>
        <p:txBody>
          <a:bodyPr rtlCol="0" anchor="ctr"/>
          <a:lstStyle/>
          <a:p>
            <a:pPr algn="ctr"/>
            <a:endParaRPr lang="LID4096">
              <a:ln w="57150">
                <a:solidFill>
                  <a:schemeClr val="tx1"/>
                </a:solidFill>
              </a:ln>
            </a:endParaRPr>
          </a:p>
        </p:txBody>
      </p:sp>
      <p:sp>
        <p:nvSpPr>
          <p:cNvPr id="30" name="Oval 29">
            <a:extLst>
              <a:ext uri="{FF2B5EF4-FFF2-40B4-BE49-F238E27FC236}">
                <a16:creationId xmlns:a16="http://schemas.microsoft.com/office/drawing/2014/main" id="{747735FD-95C6-2AE2-D4B2-F3D02244FFEB}"/>
              </a:ext>
            </a:extLst>
          </p:cNvPr>
          <p:cNvSpPr/>
          <p:nvPr/>
        </p:nvSpPr>
        <p:spPr>
          <a:xfrm>
            <a:off x="4364828" y="1547949"/>
            <a:ext cx="320040" cy="493594"/>
          </a:xfrm>
          <a:custGeom>
            <a:avLst/>
            <a:gdLst>
              <a:gd name="connsiteX0" fmla="*/ 0 w 320040"/>
              <a:gd name="connsiteY0" fmla="*/ 246797 h 493594"/>
              <a:gd name="connsiteX1" fmla="*/ 160020 w 320040"/>
              <a:gd name="connsiteY1" fmla="*/ 0 h 493594"/>
              <a:gd name="connsiteX2" fmla="*/ 320040 w 320040"/>
              <a:gd name="connsiteY2" fmla="*/ 246797 h 493594"/>
              <a:gd name="connsiteX3" fmla="*/ 160020 w 320040"/>
              <a:gd name="connsiteY3" fmla="*/ 493594 h 493594"/>
              <a:gd name="connsiteX4" fmla="*/ 0 w 320040"/>
              <a:gd name="connsiteY4" fmla="*/ 246797 h 493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040" h="493594" extrusionOk="0">
                <a:moveTo>
                  <a:pt x="0" y="246797"/>
                </a:moveTo>
                <a:cubicBezTo>
                  <a:pt x="-11610" y="103334"/>
                  <a:pt x="47887" y="8916"/>
                  <a:pt x="160020" y="0"/>
                </a:cubicBezTo>
                <a:cubicBezTo>
                  <a:pt x="277618" y="6152"/>
                  <a:pt x="308742" y="110854"/>
                  <a:pt x="320040" y="246797"/>
                </a:cubicBezTo>
                <a:cubicBezTo>
                  <a:pt x="315144" y="387880"/>
                  <a:pt x="246862" y="502077"/>
                  <a:pt x="160020" y="493594"/>
                </a:cubicBezTo>
                <a:cubicBezTo>
                  <a:pt x="47188" y="480214"/>
                  <a:pt x="15909" y="390701"/>
                  <a:pt x="0" y="246797"/>
                </a:cubicBezTo>
                <a:close/>
              </a:path>
            </a:pathLst>
          </a:custGeom>
          <a:noFill/>
          <a:ln w="38100" cap="flat" cmpd="tri" algn="ctr">
            <a:solidFill>
              <a:schemeClr val="accent4"/>
            </a:solidFill>
            <a:prstDash val="solid"/>
            <a:round/>
            <a:headEnd type="none" w="med" len="med"/>
            <a:tailEnd type="none" w="med" len="med"/>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0">
            <a:scrgbClr r="0" g="0" b="0"/>
          </a:lnRef>
          <a:fillRef idx="0">
            <a:scrgbClr r="0" g="0" b="0"/>
          </a:fillRef>
          <a:effectRef idx="0">
            <a:scrgbClr r="0" g="0" b="0"/>
          </a:effectRef>
          <a:fontRef idx="minor">
            <a:schemeClr val="accent4"/>
          </a:fontRef>
        </p:style>
        <p:txBody>
          <a:bodyPr rtlCol="0" anchor="ctr"/>
          <a:lstStyle/>
          <a:p>
            <a:pPr algn="ctr"/>
            <a:endParaRPr lang="LID4096">
              <a:ln w="57150">
                <a:solidFill>
                  <a:schemeClr val="tx1"/>
                </a:solidFill>
              </a:ln>
            </a:endParaRPr>
          </a:p>
        </p:txBody>
      </p:sp>
      <p:sp>
        <p:nvSpPr>
          <p:cNvPr id="31" name="Rectangle 30">
            <a:extLst>
              <a:ext uri="{FF2B5EF4-FFF2-40B4-BE49-F238E27FC236}">
                <a16:creationId xmlns:a16="http://schemas.microsoft.com/office/drawing/2014/main" id="{2871E408-3CB2-E0C3-4E1C-E94616EB1B9C}"/>
              </a:ext>
            </a:extLst>
          </p:cNvPr>
          <p:cNvSpPr/>
          <p:nvPr/>
        </p:nvSpPr>
        <p:spPr>
          <a:xfrm>
            <a:off x="4853584" y="304976"/>
            <a:ext cx="2967461" cy="7439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Data sent is the processed point cloud using shared memory </a:t>
            </a:r>
            <a:r>
              <a:rPr lang="en-US" sz="1100" dirty="0" err="1"/>
              <a:t>Numpy</a:t>
            </a:r>
            <a:r>
              <a:rPr lang="en-US" sz="1100" dirty="0"/>
              <a:t> arrays (n x 3), where n is the number of points in the PC.</a:t>
            </a:r>
          </a:p>
        </p:txBody>
      </p:sp>
      <p:cxnSp>
        <p:nvCxnSpPr>
          <p:cNvPr id="32" name="Straight Arrow Connector 31">
            <a:extLst>
              <a:ext uri="{FF2B5EF4-FFF2-40B4-BE49-F238E27FC236}">
                <a16:creationId xmlns:a16="http://schemas.microsoft.com/office/drawing/2014/main" id="{2C52DE78-F091-5C99-FD27-259D5F6C0E66}"/>
              </a:ext>
            </a:extLst>
          </p:cNvPr>
          <p:cNvCxnSpPr>
            <a:cxnSpLocks/>
            <a:stCxn id="30" idx="0"/>
            <a:endCxn id="31" idx="2"/>
          </p:cNvCxnSpPr>
          <p:nvPr/>
        </p:nvCxnSpPr>
        <p:spPr>
          <a:xfrm flipV="1">
            <a:off x="4524848" y="1048893"/>
            <a:ext cx="1812467" cy="4990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6" name="Rectangle 35">
            <a:extLst>
              <a:ext uri="{FF2B5EF4-FFF2-40B4-BE49-F238E27FC236}">
                <a16:creationId xmlns:a16="http://schemas.microsoft.com/office/drawing/2014/main" id="{3CA2ECBB-2B94-F825-9B61-4D34BA44FAD7}"/>
              </a:ext>
            </a:extLst>
          </p:cNvPr>
          <p:cNvSpPr/>
          <p:nvPr/>
        </p:nvSpPr>
        <p:spPr>
          <a:xfrm>
            <a:off x="4073675" y="5699186"/>
            <a:ext cx="2967461" cy="7439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Data sent is the support vectors and weights for each group using LCM (think ROS messages)</a:t>
            </a:r>
          </a:p>
        </p:txBody>
      </p:sp>
      <p:sp>
        <p:nvSpPr>
          <p:cNvPr id="37" name="Oval 36">
            <a:extLst>
              <a:ext uri="{FF2B5EF4-FFF2-40B4-BE49-F238E27FC236}">
                <a16:creationId xmlns:a16="http://schemas.microsoft.com/office/drawing/2014/main" id="{DF1A6814-D3B1-E4AF-FDF2-E4BB5580671D}"/>
              </a:ext>
            </a:extLst>
          </p:cNvPr>
          <p:cNvSpPr/>
          <p:nvPr/>
        </p:nvSpPr>
        <p:spPr>
          <a:xfrm>
            <a:off x="5001723" y="3579107"/>
            <a:ext cx="320040" cy="493594"/>
          </a:xfrm>
          <a:custGeom>
            <a:avLst/>
            <a:gdLst>
              <a:gd name="connsiteX0" fmla="*/ 0 w 320040"/>
              <a:gd name="connsiteY0" fmla="*/ 246797 h 493594"/>
              <a:gd name="connsiteX1" fmla="*/ 160020 w 320040"/>
              <a:gd name="connsiteY1" fmla="*/ 0 h 493594"/>
              <a:gd name="connsiteX2" fmla="*/ 320040 w 320040"/>
              <a:gd name="connsiteY2" fmla="*/ 246797 h 493594"/>
              <a:gd name="connsiteX3" fmla="*/ 160020 w 320040"/>
              <a:gd name="connsiteY3" fmla="*/ 493594 h 493594"/>
              <a:gd name="connsiteX4" fmla="*/ 0 w 320040"/>
              <a:gd name="connsiteY4" fmla="*/ 246797 h 493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040" h="493594" extrusionOk="0">
                <a:moveTo>
                  <a:pt x="0" y="246797"/>
                </a:moveTo>
                <a:cubicBezTo>
                  <a:pt x="-11610" y="103334"/>
                  <a:pt x="47887" y="8916"/>
                  <a:pt x="160020" y="0"/>
                </a:cubicBezTo>
                <a:cubicBezTo>
                  <a:pt x="277618" y="6152"/>
                  <a:pt x="308742" y="110854"/>
                  <a:pt x="320040" y="246797"/>
                </a:cubicBezTo>
                <a:cubicBezTo>
                  <a:pt x="315144" y="387880"/>
                  <a:pt x="246862" y="502077"/>
                  <a:pt x="160020" y="493594"/>
                </a:cubicBezTo>
                <a:cubicBezTo>
                  <a:pt x="47188" y="480214"/>
                  <a:pt x="15909" y="390701"/>
                  <a:pt x="0" y="246797"/>
                </a:cubicBezTo>
                <a:close/>
              </a:path>
            </a:pathLst>
          </a:custGeom>
          <a:noFill/>
          <a:ln w="38100" cap="flat" cmpd="tri" algn="ctr">
            <a:solidFill>
              <a:schemeClr val="accent4"/>
            </a:solidFill>
            <a:prstDash val="solid"/>
            <a:round/>
            <a:headEnd type="none" w="med" len="med"/>
            <a:tailEnd type="none" w="med" len="med"/>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0">
            <a:scrgbClr r="0" g="0" b="0"/>
          </a:lnRef>
          <a:fillRef idx="0">
            <a:scrgbClr r="0" g="0" b="0"/>
          </a:fillRef>
          <a:effectRef idx="0">
            <a:scrgbClr r="0" g="0" b="0"/>
          </a:effectRef>
          <a:fontRef idx="minor">
            <a:schemeClr val="accent4"/>
          </a:fontRef>
        </p:style>
        <p:txBody>
          <a:bodyPr rtlCol="0" anchor="ctr"/>
          <a:lstStyle/>
          <a:p>
            <a:pPr algn="ctr"/>
            <a:endParaRPr lang="LID4096">
              <a:ln w="57150">
                <a:solidFill>
                  <a:schemeClr val="tx1"/>
                </a:solidFill>
              </a:ln>
            </a:endParaRPr>
          </a:p>
        </p:txBody>
      </p:sp>
      <p:cxnSp>
        <p:nvCxnSpPr>
          <p:cNvPr id="38" name="Straight Arrow Connector 37">
            <a:extLst>
              <a:ext uri="{FF2B5EF4-FFF2-40B4-BE49-F238E27FC236}">
                <a16:creationId xmlns:a16="http://schemas.microsoft.com/office/drawing/2014/main" id="{51D0B4E6-3A58-C322-64E6-2D98AB26D7AD}"/>
              </a:ext>
            </a:extLst>
          </p:cNvPr>
          <p:cNvCxnSpPr>
            <a:cxnSpLocks/>
            <a:stCxn id="37" idx="4"/>
            <a:endCxn id="36" idx="0"/>
          </p:cNvCxnSpPr>
          <p:nvPr/>
        </p:nvCxnSpPr>
        <p:spPr>
          <a:xfrm>
            <a:off x="5161743" y="4072701"/>
            <a:ext cx="395663" cy="16264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6" name="Freeform: Shape 45">
            <a:extLst>
              <a:ext uri="{FF2B5EF4-FFF2-40B4-BE49-F238E27FC236}">
                <a16:creationId xmlns:a16="http://schemas.microsoft.com/office/drawing/2014/main" id="{43E20C0C-6A1B-EA2A-A30B-654BA98E1E28}"/>
              </a:ext>
            </a:extLst>
          </p:cNvPr>
          <p:cNvSpPr/>
          <p:nvPr/>
        </p:nvSpPr>
        <p:spPr>
          <a:xfrm>
            <a:off x="4462818" y="2490716"/>
            <a:ext cx="2954740" cy="2456597"/>
          </a:xfrm>
          <a:custGeom>
            <a:avLst/>
            <a:gdLst>
              <a:gd name="connsiteX0" fmla="*/ 1317009 w 2954740"/>
              <a:gd name="connsiteY0" fmla="*/ 0 h 2456597"/>
              <a:gd name="connsiteX1" fmla="*/ 2954740 w 2954740"/>
              <a:gd name="connsiteY1" fmla="*/ 6824 h 2456597"/>
              <a:gd name="connsiteX2" fmla="*/ 2927445 w 2954740"/>
              <a:gd name="connsiteY2" fmla="*/ 2449774 h 2456597"/>
              <a:gd name="connsiteX3" fmla="*/ 0 w 2954740"/>
              <a:gd name="connsiteY3" fmla="*/ 2456597 h 2456597"/>
              <a:gd name="connsiteX4" fmla="*/ 0 w 2954740"/>
              <a:gd name="connsiteY4" fmla="*/ 1337481 h 2456597"/>
              <a:gd name="connsiteX5" fmla="*/ 1132764 w 2954740"/>
              <a:gd name="connsiteY5" fmla="*/ 1330657 h 2456597"/>
              <a:gd name="connsiteX6" fmla="*/ 1153236 w 2954740"/>
              <a:gd name="connsiteY6" fmla="*/ 6824 h 2456597"/>
              <a:gd name="connsiteX7" fmla="*/ 1317009 w 2954740"/>
              <a:gd name="connsiteY7" fmla="*/ 0 h 2456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4740" h="2456597">
                <a:moveTo>
                  <a:pt x="1317009" y="0"/>
                </a:moveTo>
                <a:lnTo>
                  <a:pt x="2954740" y="6824"/>
                </a:lnTo>
                <a:lnTo>
                  <a:pt x="2927445" y="2449774"/>
                </a:lnTo>
                <a:lnTo>
                  <a:pt x="0" y="2456597"/>
                </a:lnTo>
                <a:lnTo>
                  <a:pt x="0" y="1337481"/>
                </a:lnTo>
                <a:lnTo>
                  <a:pt x="1132764" y="1330657"/>
                </a:lnTo>
                <a:lnTo>
                  <a:pt x="1153236" y="6824"/>
                </a:lnTo>
                <a:lnTo>
                  <a:pt x="1317009" y="0"/>
                </a:lnTo>
                <a:close/>
              </a:path>
            </a:pathLst>
          </a:custGeom>
          <a:solidFill>
            <a:srgbClr val="C04F15">
              <a:alpha val="20000"/>
            </a:srgbClr>
          </a:solid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LID4096"/>
          </a:p>
        </p:txBody>
      </p:sp>
      <p:sp>
        <p:nvSpPr>
          <p:cNvPr id="47" name="TextBox 46">
            <a:extLst>
              <a:ext uri="{FF2B5EF4-FFF2-40B4-BE49-F238E27FC236}">
                <a16:creationId xmlns:a16="http://schemas.microsoft.com/office/drawing/2014/main" id="{7D824BF0-EEB0-C4FC-47FC-DF20A6C165D9}"/>
              </a:ext>
            </a:extLst>
          </p:cNvPr>
          <p:cNvSpPr txBox="1"/>
          <p:nvPr/>
        </p:nvSpPr>
        <p:spPr>
          <a:xfrm>
            <a:off x="6020688" y="3870280"/>
            <a:ext cx="1401691" cy="1015663"/>
          </a:xfrm>
          <a:prstGeom prst="rect">
            <a:avLst/>
          </a:prstGeom>
          <a:noFill/>
        </p:spPr>
        <p:txBody>
          <a:bodyPr wrap="square" rtlCol="0">
            <a:spAutoFit/>
          </a:bodyPr>
          <a:lstStyle/>
          <a:p>
            <a:r>
              <a:rPr lang="en-US" sz="1200" dirty="0"/>
              <a:t>Control algorithm </a:t>
            </a:r>
          </a:p>
          <a:p>
            <a:r>
              <a:rPr lang="en-US" sz="1200" dirty="0"/>
              <a:t>(the MPC, the planner helper, </a:t>
            </a:r>
            <a:r>
              <a:rPr lang="en-US" sz="1200" dirty="0" err="1"/>
              <a:t>etc</a:t>
            </a:r>
            <a:r>
              <a:rPr lang="en-US" sz="1200" dirty="0"/>
              <a:t> in the </a:t>
            </a:r>
            <a:r>
              <a:rPr lang="en-US" sz="1200" dirty="0" err="1">
                <a:solidFill>
                  <a:srgbClr val="FF0000"/>
                </a:solidFill>
              </a:rPr>
              <a:t>scenario_i.ipynb</a:t>
            </a:r>
            <a:endParaRPr lang="LID4096" sz="1200" dirty="0">
              <a:solidFill>
                <a:srgbClr val="FF0000"/>
              </a:solidFill>
            </a:endParaRPr>
          </a:p>
        </p:txBody>
      </p:sp>
      <p:sp>
        <p:nvSpPr>
          <p:cNvPr id="49" name="Rectangle 48">
            <a:extLst>
              <a:ext uri="{FF2B5EF4-FFF2-40B4-BE49-F238E27FC236}">
                <a16:creationId xmlns:a16="http://schemas.microsoft.com/office/drawing/2014/main" id="{113DA422-3DD7-E430-6EB8-883CFFE3F4A7}"/>
              </a:ext>
            </a:extLst>
          </p:cNvPr>
          <p:cNvSpPr/>
          <p:nvPr/>
        </p:nvSpPr>
        <p:spPr>
          <a:xfrm>
            <a:off x="3173103" y="1867989"/>
            <a:ext cx="2356507" cy="1810084"/>
          </a:xfrm>
          <a:prstGeom prst="rect">
            <a:avLst/>
          </a:prstGeom>
          <a:solidFill>
            <a:srgbClr val="C04F15">
              <a:alpha val="18824"/>
            </a:srgbClr>
          </a:solid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sz="1200" dirty="0"/>
          </a:p>
          <a:p>
            <a:pPr algn="ctr"/>
            <a:endParaRPr lang="en-US" sz="1200" dirty="0"/>
          </a:p>
          <a:p>
            <a:pPr algn="ctr"/>
            <a:endParaRPr lang="en-US" sz="1200" dirty="0"/>
          </a:p>
          <a:p>
            <a:pPr algn="ctr"/>
            <a:endParaRPr lang="en-US" sz="1200" dirty="0"/>
          </a:p>
          <a:p>
            <a:pPr algn="ctr"/>
            <a:endParaRPr lang="en-US" sz="1200" dirty="0"/>
          </a:p>
          <a:p>
            <a:pPr algn="ctr"/>
            <a:endParaRPr lang="en-US" sz="1200" dirty="0"/>
          </a:p>
          <a:p>
            <a:pPr algn="ctr"/>
            <a:endParaRPr lang="en-US" sz="1200" dirty="0"/>
          </a:p>
          <a:p>
            <a:pPr algn="ctr"/>
            <a:endParaRPr lang="en-US" sz="1200" dirty="0"/>
          </a:p>
          <a:p>
            <a:pPr algn="ctr"/>
            <a:endParaRPr lang="en-US" sz="1200" dirty="0"/>
          </a:p>
          <a:p>
            <a:pPr algn="ctr"/>
            <a:endParaRPr lang="en-US" sz="1200" dirty="0"/>
          </a:p>
          <a:p>
            <a:pPr algn="ctr"/>
            <a:endParaRPr lang="en-US" sz="1200" dirty="0"/>
          </a:p>
          <a:p>
            <a:pPr algn="ctr"/>
            <a:endParaRPr lang="en-US" sz="1200" dirty="0"/>
          </a:p>
          <a:p>
            <a:pPr algn="ctr"/>
            <a:endParaRPr lang="en-US" sz="1200" dirty="0"/>
          </a:p>
          <a:p>
            <a:pPr algn="ctr"/>
            <a:r>
              <a:rPr lang="en-US" sz="1200" dirty="0" err="1">
                <a:solidFill>
                  <a:srgbClr val="FF0000"/>
                </a:solidFill>
              </a:rPr>
              <a:t>Svm_learning</a:t>
            </a:r>
            <a:r>
              <a:rPr lang="en-US" sz="1200" dirty="0">
                <a:solidFill>
                  <a:srgbClr val="FF0000"/>
                </a:solidFill>
              </a:rPr>
              <a:t>_*.</a:t>
            </a:r>
            <a:r>
              <a:rPr lang="en-US" sz="1200" dirty="0" err="1">
                <a:solidFill>
                  <a:srgbClr val="FF0000"/>
                </a:solidFill>
              </a:rPr>
              <a:t>ipynb</a:t>
            </a:r>
            <a:endParaRPr lang="en-US" sz="1200" dirty="0">
              <a:solidFill>
                <a:srgbClr val="FF0000"/>
              </a:solidFill>
            </a:endParaRPr>
          </a:p>
          <a:p>
            <a:pPr algn="ctr"/>
            <a:endParaRPr lang="en-US" sz="1200" dirty="0"/>
          </a:p>
          <a:p>
            <a:pPr algn="ctr"/>
            <a:endParaRPr lang="en-US" sz="1200" dirty="0"/>
          </a:p>
          <a:p>
            <a:pPr algn="ctr"/>
            <a:endParaRPr lang="en-US" sz="1200" dirty="0"/>
          </a:p>
          <a:p>
            <a:pPr algn="ctr"/>
            <a:endParaRPr lang="en-US" sz="1200" dirty="0"/>
          </a:p>
          <a:p>
            <a:pPr algn="ctr"/>
            <a:endParaRPr lang="LID4096" sz="1200" dirty="0"/>
          </a:p>
        </p:txBody>
      </p:sp>
      <p:sp>
        <p:nvSpPr>
          <p:cNvPr id="50" name="Oval 49">
            <a:extLst>
              <a:ext uri="{FF2B5EF4-FFF2-40B4-BE49-F238E27FC236}">
                <a16:creationId xmlns:a16="http://schemas.microsoft.com/office/drawing/2014/main" id="{E77BD664-B916-8F20-FD81-649720705450}"/>
              </a:ext>
            </a:extLst>
          </p:cNvPr>
          <p:cNvSpPr/>
          <p:nvPr/>
        </p:nvSpPr>
        <p:spPr>
          <a:xfrm>
            <a:off x="6244192" y="2082202"/>
            <a:ext cx="320040" cy="493594"/>
          </a:xfrm>
          <a:custGeom>
            <a:avLst/>
            <a:gdLst>
              <a:gd name="connsiteX0" fmla="*/ 0 w 320040"/>
              <a:gd name="connsiteY0" fmla="*/ 246797 h 493594"/>
              <a:gd name="connsiteX1" fmla="*/ 160020 w 320040"/>
              <a:gd name="connsiteY1" fmla="*/ 0 h 493594"/>
              <a:gd name="connsiteX2" fmla="*/ 320040 w 320040"/>
              <a:gd name="connsiteY2" fmla="*/ 246797 h 493594"/>
              <a:gd name="connsiteX3" fmla="*/ 160020 w 320040"/>
              <a:gd name="connsiteY3" fmla="*/ 493594 h 493594"/>
              <a:gd name="connsiteX4" fmla="*/ 0 w 320040"/>
              <a:gd name="connsiteY4" fmla="*/ 246797 h 493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040" h="493594" extrusionOk="0">
                <a:moveTo>
                  <a:pt x="0" y="246797"/>
                </a:moveTo>
                <a:cubicBezTo>
                  <a:pt x="-11610" y="103334"/>
                  <a:pt x="47887" y="8916"/>
                  <a:pt x="160020" y="0"/>
                </a:cubicBezTo>
                <a:cubicBezTo>
                  <a:pt x="277618" y="6152"/>
                  <a:pt x="308742" y="110854"/>
                  <a:pt x="320040" y="246797"/>
                </a:cubicBezTo>
                <a:cubicBezTo>
                  <a:pt x="315144" y="387880"/>
                  <a:pt x="246862" y="502077"/>
                  <a:pt x="160020" y="493594"/>
                </a:cubicBezTo>
                <a:cubicBezTo>
                  <a:pt x="47188" y="480214"/>
                  <a:pt x="15909" y="390701"/>
                  <a:pt x="0" y="246797"/>
                </a:cubicBezTo>
                <a:close/>
              </a:path>
            </a:pathLst>
          </a:custGeom>
          <a:noFill/>
          <a:ln w="38100" cap="flat" cmpd="tri" algn="ctr">
            <a:solidFill>
              <a:schemeClr val="accent4"/>
            </a:solidFill>
            <a:prstDash val="solid"/>
            <a:round/>
            <a:headEnd type="none" w="med" len="med"/>
            <a:tailEnd type="none" w="med" len="med"/>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0">
            <a:scrgbClr r="0" g="0" b="0"/>
          </a:lnRef>
          <a:fillRef idx="0">
            <a:scrgbClr r="0" g="0" b="0"/>
          </a:fillRef>
          <a:effectRef idx="0">
            <a:scrgbClr r="0" g="0" b="0"/>
          </a:effectRef>
          <a:fontRef idx="minor">
            <a:schemeClr val="accent4"/>
          </a:fontRef>
        </p:style>
        <p:txBody>
          <a:bodyPr rtlCol="0" anchor="ctr"/>
          <a:lstStyle/>
          <a:p>
            <a:pPr algn="ctr"/>
            <a:endParaRPr lang="LID4096">
              <a:ln w="57150">
                <a:solidFill>
                  <a:schemeClr val="tx1"/>
                </a:solidFill>
              </a:ln>
            </a:endParaRPr>
          </a:p>
        </p:txBody>
      </p:sp>
      <p:sp>
        <p:nvSpPr>
          <p:cNvPr id="51" name="Rectangle 50">
            <a:extLst>
              <a:ext uri="{FF2B5EF4-FFF2-40B4-BE49-F238E27FC236}">
                <a16:creationId xmlns:a16="http://schemas.microsoft.com/office/drawing/2014/main" id="{8BCC6388-E46F-FA33-3243-5FB425F135C0}"/>
              </a:ext>
            </a:extLst>
          </p:cNvPr>
          <p:cNvSpPr/>
          <p:nvPr/>
        </p:nvSpPr>
        <p:spPr>
          <a:xfrm>
            <a:off x="7821045" y="1669584"/>
            <a:ext cx="2967461" cy="7439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Data sent is the vertices positions and the edge indices of each polytope via LCM</a:t>
            </a:r>
          </a:p>
        </p:txBody>
      </p:sp>
      <p:cxnSp>
        <p:nvCxnSpPr>
          <p:cNvPr id="52" name="Straight Arrow Connector 51">
            <a:extLst>
              <a:ext uri="{FF2B5EF4-FFF2-40B4-BE49-F238E27FC236}">
                <a16:creationId xmlns:a16="http://schemas.microsoft.com/office/drawing/2014/main" id="{60AAC67B-B45A-EF61-34C2-DEDCE05CC7BD}"/>
              </a:ext>
            </a:extLst>
          </p:cNvPr>
          <p:cNvCxnSpPr>
            <a:cxnSpLocks/>
            <a:stCxn id="50" idx="6"/>
            <a:endCxn id="51" idx="1"/>
          </p:cNvCxnSpPr>
          <p:nvPr/>
        </p:nvCxnSpPr>
        <p:spPr>
          <a:xfrm flipV="1">
            <a:off x="6564232" y="2041543"/>
            <a:ext cx="1256813" cy="2874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5" name="Oval 54">
            <a:extLst>
              <a:ext uri="{FF2B5EF4-FFF2-40B4-BE49-F238E27FC236}">
                <a16:creationId xmlns:a16="http://schemas.microsoft.com/office/drawing/2014/main" id="{47A8953C-9888-0400-C756-0DBDB779CCE8}"/>
              </a:ext>
            </a:extLst>
          </p:cNvPr>
          <p:cNvSpPr/>
          <p:nvPr/>
        </p:nvSpPr>
        <p:spPr>
          <a:xfrm>
            <a:off x="3375906" y="3471256"/>
            <a:ext cx="320040" cy="493594"/>
          </a:xfrm>
          <a:custGeom>
            <a:avLst/>
            <a:gdLst>
              <a:gd name="connsiteX0" fmla="*/ 0 w 320040"/>
              <a:gd name="connsiteY0" fmla="*/ 246797 h 493594"/>
              <a:gd name="connsiteX1" fmla="*/ 160020 w 320040"/>
              <a:gd name="connsiteY1" fmla="*/ 0 h 493594"/>
              <a:gd name="connsiteX2" fmla="*/ 320040 w 320040"/>
              <a:gd name="connsiteY2" fmla="*/ 246797 h 493594"/>
              <a:gd name="connsiteX3" fmla="*/ 160020 w 320040"/>
              <a:gd name="connsiteY3" fmla="*/ 493594 h 493594"/>
              <a:gd name="connsiteX4" fmla="*/ 0 w 320040"/>
              <a:gd name="connsiteY4" fmla="*/ 246797 h 493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040" h="493594" extrusionOk="0">
                <a:moveTo>
                  <a:pt x="0" y="246797"/>
                </a:moveTo>
                <a:cubicBezTo>
                  <a:pt x="-11610" y="103334"/>
                  <a:pt x="47887" y="8916"/>
                  <a:pt x="160020" y="0"/>
                </a:cubicBezTo>
                <a:cubicBezTo>
                  <a:pt x="277618" y="6152"/>
                  <a:pt x="308742" y="110854"/>
                  <a:pt x="320040" y="246797"/>
                </a:cubicBezTo>
                <a:cubicBezTo>
                  <a:pt x="315144" y="387880"/>
                  <a:pt x="246862" y="502077"/>
                  <a:pt x="160020" y="493594"/>
                </a:cubicBezTo>
                <a:cubicBezTo>
                  <a:pt x="47188" y="480214"/>
                  <a:pt x="15909" y="390701"/>
                  <a:pt x="0" y="246797"/>
                </a:cubicBezTo>
                <a:close/>
              </a:path>
            </a:pathLst>
          </a:custGeom>
          <a:noFill/>
          <a:ln w="38100" cap="flat" cmpd="tri" algn="ctr">
            <a:solidFill>
              <a:schemeClr val="accent4"/>
            </a:solidFill>
            <a:prstDash val="solid"/>
            <a:round/>
            <a:headEnd type="none" w="med" len="med"/>
            <a:tailEnd type="none" w="med" len="med"/>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0">
            <a:scrgbClr r="0" g="0" b="0"/>
          </a:lnRef>
          <a:fillRef idx="0">
            <a:scrgbClr r="0" g="0" b="0"/>
          </a:fillRef>
          <a:effectRef idx="0">
            <a:scrgbClr r="0" g="0" b="0"/>
          </a:effectRef>
          <a:fontRef idx="minor">
            <a:schemeClr val="accent4"/>
          </a:fontRef>
        </p:style>
        <p:txBody>
          <a:bodyPr rtlCol="0" anchor="ctr"/>
          <a:lstStyle/>
          <a:p>
            <a:pPr algn="ctr"/>
            <a:endParaRPr lang="LID4096">
              <a:ln w="57150">
                <a:solidFill>
                  <a:schemeClr val="tx1"/>
                </a:solidFill>
              </a:ln>
            </a:endParaRPr>
          </a:p>
        </p:txBody>
      </p:sp>
      <p:sp>
        <p:nvSpPr>
          <p:cNvPr id="56" name="Rectangle 55">
            <a:extLst>
              <a:ext uri="{FF2B5EF4-FFF2-40B4-BE49-F238E27FC236}">
                <a16:creationId xmlns:a16="http://schemas.microsoft.com/office/drawing/2014/main" id="{E3A53C6D-6AD9-AE8E-570D-198AB871CEB3}"/>
              </a:ext>
            </a:extLst>
          </p:cNvPr>
          <p:cNvSpPr/>
          <p:nvPr/>
        </p:nvSpPr>
        <p:spPr>
          <a:xfrm>
            <a:off x="777223" y="5883895"/>
            <a:ext cx="2967461" cy="7439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Data sent is the control points of the current calculated trajectories for each robot so that we can learn the obstacles more finely around the currently planned trajectory</a:t>
            </a:r>
          </a:p>
        </p:txBody>
      </p:sp>
      <p:cxnSp>
        <p:nvCxnSpPr>
          <p:cNvPr id="57" name="Straight Arrow Connector 56">
            <a:extLst>
              <a:ext uri="{FF2B5EF4-FFF2-40B4-BE49-F238E27FC236}">
                <a16:creationId xmlns:a16="http://schemas.microsoft.com/office/drawing/2014/main" id="{4EC835C1-6741-4D24-E32D-4B8ED1AC4554}"/>
              </a:ext>
            </a:extLst>
          </p:cNvPr>
          <p:cNvCxnSpPr>
            <a:cxnSpLocks/>
            <a:stCxn id="55" idx="4"/>
          </p:cNvCxnSpPr>
          <p:nvPr/>
        </p:nvCxnSpPr>
        <p:spPr>
          <a:xfrm flipH="1">
            <a:off x="3455568" y="3964850"/>
            <a:ext cx="80358" cy="19190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9" name="Oval 58">
            <a:extLst>
              <a:ext uri="{FF2B5EF4-FFF2-40B4-BE49-F238E27FC236}">
                <a16:creationId xmlns:a16="http://schemas.microsoft.com/office/drawing/2014/main" id="{FCCCA5D9-4FE3-3D87-D758-5732D4842279}"/>
              </a:ext>
            </a:extLst>
          </p:cNvPr>
          <p:cNvSpPr/>
          <p:nvPr/>
        </p:nvSpPr>
        <p:spPr>
          <a:xfrm rot="16200000">
            <a:off x="3033286" y="3877570"/>
            <a:ext cx="320040" cy="493594"/>
          </a:xfrm>
          <a:custGeom>
            <a:avLst/>
            <a:gdLst>
              <a:gd name="connsiteX0" fmla="*/ 0 w 320040"/>
              <a:gd name="connsiteY0" fmla="*/ 246797 h 493594"/>
              <a:gd name="connsiteX1" fmla="*/ 160020 w 320040"/>
              <a:gd name="connsiteY1" fmla="*/ 0 h 493594"/>
              <a:gd name="connsiteX2" fmla="*/ 320040 w 320040"/>
              <a:gd name="connsiteY2" fmla="*/ 246797 h 493594"/>
              <a:gd name="connsiteX3" fmla="*/ 160020 w 320040"/>
              <a:gd name="connsiteY3" fmla="*/ 493594 h 493594"/>
              <a:gd name="connsiteX4" fmla="*/ 0 w 320040"/>
              <a:gd name="connsiteY4" fmla="*/ 246797 h 493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040" h="493594" extrusionOk="0">
                <a:moveTo>
                  <a:pt x="0" y="246797"/>
                </a:moveTo>
                <a:cubicBezTo>
                  <a:pt x="-11610" y="103334"/>
                  <a:pt x="47887" y="8916"/>
                  <a:pt x="160020" y="0"/>
                </a:cubicBezTo>
                <a:cubicBezTo>
                  <a:pt x="277618" y="6152"/>
                  <a:pt x="308742" y="110854"/>
                  <a:pt x="320040" y="246797"/>
                </a:cubicBezTo>
                <a:cubicBezTo>
                  <a:pt x="315144" y="387880"/>
                  <a:pt x="246862" y="502077"/>
                  <a:pt x="160020" y="493594"/>
                </a:cubicBezTo>
                <a:cubicBezTo>
                  <a:pt x="47188" y="480214"/>
                  <a:pt x="15909" y="390701"/>
                  <a:pt x="0" y="246797"/>
                </a:cubicBezTo>
                <a:close/>
              </a:path>
            </a:pathLst>
          </a:custGeom>
          <a:noFill/>
          <a:ln w="38100" cap="flat" cmpd="tri" algn="ctr">
            <a:solidFill>
              <a:schemeClr val="accent4"/>
            </a:solidFill>
            <a:prstDash val="solid"/>
            <a:round/>
            <a:headEnd type="none" w="med" len="med"/>
            <a:tailEnd type="none" w="med" len="med"/>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0">
            <a:scrgbClr r="0" g="0" b="0"/>
          </a:lnRef>
          <a:fillRef idx="0">
            <a:scrgbClr r="0" g="0" b="0"/>
          </a:fillRef>
          <a:effectRef idx="0">
            <a:scrgbClr r="0" g="0" b="0"/>
          </a:effectRef>
          <a:fontRef idx="minor">
            <a:schemeClr val="accent4"/>
          </a:fontRef>
        </p:style>
        <p:txBody>
          <a:bodyPr rtlCol="0" anchor="ctr"/>
          <a:lstStyle/>
          <a:p>
            <a:pPr algn="ctr"/>
            <a:endParaRPr lang="LID4096">
              <a:ln w="57150">
                <a:solidFill>
                  <a:schemeClr val="tx1"/>
                </a:solidFill>
              </a:ln>
            </a:endParaRPr>
          </a:p>
        </p:txBody>
      </p:sp>
      <p:sp>
        <p:nvSpPr>
          <p:cNvPr id="61" name="Rectangle 60">
            <a:extLst>
              <a:ext uri="{FF2B5EF4-FFF2-40B4-BE49-F238E27FC236}">
                <a16:creationId xmlns:a16="http://schemas.microsoft.com/office/drawing/2014/main" id="{63029D13-9FDA-9EB3-71FB-E0F2E2E0346A}"/>
              </a:ext>
            </a:extLst>
          </p:cNvPr>
          <p:cNvSpPr/>
          <p:nvPr/>
        </p:nvSpPr>
        <p:spPr>
          <a:xfrm>
            <a:off x="343235" y="4873201"/>
            <a:ext cx="2967461" cy="7439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Data sent is the current trajectory of each robot (actual joint positions and velocities at many points along the trajectory) using ROS messages.</a:t>
            </a:r>
          </a:p>
        </p:txBody>
      </p:sp>
      <p:cxnSp>
        <p:nvCxnSpPr>
          <p:cNvPr id="62" name="Straight Arrow Connector 61">
            <a:extLst>
              <a:ext uri="{FF2B5EF4-FFF2-40B4-BE49-F238E27FC236}">
                <a16:creationId xmlns:a16="http://schemas.microsoft.com/office/drawing/2014/main" id="{D052DBD8-94F6-BC32-943E-D726CA56B786}"/>
              </a:ext>
            </a:extLst>
          </p:cNvPr>
          <p:cNvCxnSpPr>
            <a:cxnSpLocks/>
            <a:stCxn id="59" idx="2"/>
            <a:endCxn id="61" idx="0"/>
          </p:cNvCxnSpPr>
          <p:nvPr/>
        </p:nvCxnSpPr>
        <p:spPr>
          <a:xfrm flipH="1">
            <a:off x="1826966" y="4284387"/>
            <a:ext cx="1366340" cy="5888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5" name="Oval 64">
            <a:extLst>
              <a:ext uri="{FF2B5EF4-FFF2-40B4-BE49-F238E27FC236}">
                <a16:creationId xmlns:a16="http://schemas.microsoft.com/office/drawing/2014/main" id="{651D78A6-7F68-8757-1815-A8687DCCF75C}"/>
              </a:ext>
            </a:extLst>
          </p:cNvPr>
          <p:cNvSpPr/>
          <p:nvPr/>
        </p:nvSpPr>
        <p:spPr>
          <a:xfrm>
            <a:off x="2413699" y="1765666"/>
            <a:ext cx="320040" cy="493594"/>
          </a:xfrm>
          <a:custGeom>
            <a:avLst/>
            <a:gdLst>
              <a:gd name="connsiteX0" fmla="*/ 0 w 320040"/>
              <a:gd name="connsiteY0" fmla="*/ 246797 h 493594"/>
              <a:gd name="connsiteX1" fmla="*/ 160020 w 320040"/>
              <a:gd name="connsiteY1" fmla="*/ 0 h 493594"/>
              <a:gd name="connsiteX2" fmla="*/ 320040 w 320040"/>
              <a:gd name="connsiteY2" fmla="*/ 246797 h 493594"/>
              <a:gd name="connsiteX3" fmla="*/ 160020 w 320040"/>
              <a:gd name="connsiteY3" fmla="*/ 493594 h 493594"/>
              <a:gd name="connsiteX4" fmla="*/ 0 w 320040"/>
              <a:gd name="connsiteY4" fmla="*/ 246797 h 493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040" h="493594" extrusionOk="0">
                <a:moveTo>
                  <a:pt x="0" y="246797"/>
                </a:moveTo>
                <a:cubicBezTo>
                  <a:pt x="-11610" y="103334"/>
                  <a:pt x="47887" y="8916"/>
                  <a:pt x="160020" y="0"/>
                </a:cubicBezTo>
                <a:cubicBezTo>
                  <a:pt x="277618" y="6152"/>
                  <a:pt x="308742" y="110854"/>
                  <a:pt x="320040" y="246797"/>
                </a:cubicBezTo>
                <a:cubicBezTo>
                  <a:pt x="315144" y="387880"/>
                  <a:pt x="246862" y="502077"/>
                  <a:pt x="160020" y="493594"/>
                </a:cubicBezTo>
                <a:cubicBezTo>
                  <a:pt x="47188" y="480214"/>
                  <a:pt x="15909" y="390701"/>
                  <a:pt x="0" y="246797"/>
                </a:cubicBezTo>
                <a:close/>
              </a:path>
            </a:pathLst>
          </a:custGeom>
          <a:noFill/>
          <a:ln w="38100" cap="flat" cmpd="tri" algn="ctr">
            <a:solidFill>
              <a:schemeClr val="accent4"/>
            </a:solidFill>
            <a:prstDash val="solid"/>
            <a:round/>
            <a:headEnd type="none" w="med" len="med"/>
            <a:tailEnd type="none" w="med" len="med"/>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0">
            <a:scrgbClr r="0" g="0" b="0"/>
          </a:lnRef>
          <a:fillRef idx="0">
            <a:scrgbClr r="0" g="0" b="0"/>
          </a:fillRef>
          <a:effectRef idx="0">
            <a:scrgbClr r="0" g="0" b="0"/>
          </a:effectRef>
          <a:fontRef idx="minor">
            <a:schemeClr val="accent4"/>
          </a:fontRef>
        </p:style>
        <p:txBody>
          <a:bodyPr rtlCol="0" anchor="ctr"/>
          <a:lstStyle/>
          <a:p>
            <a:pPr algn="ctr"/>
            <a:endParaRPr lang="LID4096">
              <a:ln w="57150">
                <a:solidFill>
                  <a:schemeClr val="tx1"/>
                </a:solidFill>
              </a:ln>
            </a:endParaRPr>
          </a:p>
        </p:txBody>
      </p:sp>
      <p:sp>
        <p:nvSpPr>
          <p:cNvPr id="66" name="Rectangle 65">
            <a:extLst>
              <a:ext uri="{FF2B5EF4-FFF2-40B4-BE49-F238E27FC236}">
                <a16:creationId xmlns:a16="http://schemas.microsoft.com/office/drawing/2014/main" id="{B1644552-1E06-B259-4935-A0768C13F115}"/>
              </a:ext>
            </a:extLst>
          </p:cNvPr>
          <p:cNvSpPr/>
          <p:nvPr/>
        </p:nvSpPr>
        <p:spPr>
          <a:xfrm>
            <a:off x="7880840" y="2979837"/>
            <a:ext cx="1147573" cy="97796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 ROS message with the current joint position of the robots is read.</a:t>
            </a:r>
          </a:p>
        </p:txBody>
      </p:sp>
      <p:cxnSp>
        <p:nvCxnSpPr>
          <p:cNvPr id="67" name="Straight Arrow Connector 66">
            <a:extLst>
              <a:ext uri="{FF2B5EF4-FFF2-40B4-BE49-F238E27FC236}">
                <a16:creationId xmlns:a16="http://schemas.microsoft.com/office/drawing/2014/main" id="{2716C74C-B000-F6C2-BE1B-6BE46CDB2B90}"/>
              </a:ext>
            </a:extLst>
          </p:cNvPr>
          <p:cNvCxnSpPr>
            <a:cxnSpLocks/>
            <a:stCxn id="65" idx="5"/>
          </p:cNvCxnSpPr>
          <p:nvPr/>
        </p:nvCxnSpPr>
        <p:spPr>
          <a:xfrm>
            <a:off x="2686870" y="2186975"/>
            <a:ext cx="177908" cy="182683"/>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sp>
        <p:nvSpPr>
          <p:cNvPr id="71" name="Rectangle 70">
            <a:extLst>
              <a:ext uri="{FF2B5EF4-FFF2-40B4-BE49-F238E27FC236}">
                <a16:creationId xmlns:a16="http://schemas.microsoft.com/office/drawing/2014/main" id="{48BA5549-B645-012F-73B3-AE585CF40425}"/>
              </a:ext>
            </a:extLst>
          </p:cNvPr>
          <p:cNvSpPr/>
          <p:nvPr/>
        </p:nvSpPr>
        <p:spPr>
          <a:xfrm>
            <a:off x="2715419" y="2386129"/>
            <a:ext cx="298718" cy="2967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a:t>
            </a:r>
          </a:p>
        </p:txBody>
      </p:sp>
      <p:pic>
        <p:nvPicPr>
          <p:cNvPr id="74" name="Picture 73">
            <a:extLst>
              <a:ext uri="{FF2B5EF4-FFF2-40B4-BE49-F238E27FC236}">
                <a16:creationId xmlns:a16="http://schemas.microsoft.com/office/drawing/2014/main" id="{E4B441D9-4AFE-8824-160A-0F9970E8A056}"/>
              </a:ext>
            </a:extLst>
          </p:cNvPr>
          <p:cNvPicPr>
            <a:picLocks noChangeAspect="1"/>
          </p:cNvPicPr>
          <p:nvPr/>
        </p:nvPicPr>
        <p:blipFill>
          <a:blip r:embed="rId3"/>
          <a:stretch>
            <a:fillRect/>
          </a:stretch>
        </p:blipFill>
        <p:spPr>
          <a:xfrm>
            <a:off x="0" y="6358944"/>
            <a:ext cx="258325" cy="499056"/>
          </a:xfrm>
          <a:prstGeom prst="rect">
            <a:avLst/>
          </a:prstGeom>
        </p:spPr>
      </p:pic>
    </p:spTree>
    <p:extLst>
      <p:ext uri="{BB962C8B-B14F-4D97-AF65-F5344CB8AC3E}">
        <p14:creationId xmlns:p14="http://schemas.microsoft.com/office/powerpoint/2010/main" val="626483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0B770-B0FB-5AB7-5726-AAFC2B17F89A}"/>
              </a:ext>
            </a:extLst>
          </p:cNvPr>
          <p:cNvSpPr>
            <a:spLocks noGrp="1"/>
          </p:cNvSpPr>
          <p:nvPr>
            <p:ph type="title"/>
          </p:nvPr>
        </p:nvSpPr>
        <p:spPr/>
        <p:txBody>
          <a:bodyPr/>
          <a:lstStyle/>
          <a:p>
            <a:r>
              <a:rPr lang="en-US" dirty="0"/>
              <a:t>Program run order:</a:t>
            </a:r>
            <a:endParaRPr lang="LID4096" dirty="0"/>
          </a:p>
        </p:txBody>
      </p:sp>
      <p:sp>
        <p:nvSpPr>
          <p:cNvPr id="3" name="Content Placeholder 2">
            <a:extLst>
              <a:ext uri="{FF2B5EF4-FFF2-40B4-BE49-F238E27FC236}">
                <a16:creationId xmlns:a16="http://schemas.microsoft.com/office/drawing/2014/main" id="{8983D1AE-7B2A-B38E-0239-85DA4E40B982}"/>
              </a:ext>
            </a:extLst>
          </p:cNvPr>
          <p:cNvSpPr>
            <a:spLocks noGrp="1"/>
          </p:cNvSpPr>
          <p:nvPr>
            <p:ph idx="1"/>
          </p:nvPr>
        </p:nvSpPr>
        <p:spPr/>
        <p:txBody>
          <a:bodyPr>
            <a:normAutofit fontScale="85000" lnSpcReduction="10000"/>
          </a:bodyPr>
          <a:lstStyle/>
          <a:p>
            <a:r>
              <a:rPr lang="en-US" dirty="0"/>
              <a:t>python3 realsense_1.py &amp; python3 realsense_2.py</a:t>
            </a:r>
          </a:p>
          <a:p>
            <a:r>
              <a:rPr lang="en-AU" dirty="0" err="1"/>
              <a:t>talker.ipynb</a:t>
            </a:r>
            <a:r>
              <a:rPr lang="en-AU" dirty="0"/>
              <a:t> (sends the position reference to the control script)</a:t>
            </a:r>
            <a:endParaRPr lang="en-US" dirty="0"/>
          </a:p>
          <a:p>
            <a:r>
              <a:rPr lang="en-US" dirty="0" err="1"/>
              <a:t>camera_processing.ipynb</a:t>
            </a:r>
            <a:endParaRPr lang="en-US" dirty="0"/>
          </a:p>
          <a:p>
            <a:r>
              <a:rPr lang="en-AU" dirty="0" err="1"/>
              <a:t>svm_learning_deterministic.ipynb</a:t>
            </a:r>
            <a:r>
              <a:rPr lang="en-AU" dirty="0"/>
              <a:t> / </a:t>
            </a:r>
            <a:r>
              <a:rPr lang="en-AU" dirty="0" err="1"/>
              <a:t>svm_learning_prob.ipynb</a:t>
            </a:r>
            <a:endParaRPr lang="en-AU" dirty="0"/>
          </a:p>
          <a:p>
            <a:r>
              <a:rPr lang="en-AU" dirty="0" err="1"/>
              <a:t>Scenario_i.ipynb</a:t>
            </a:r>
            <a:r>
              <a:rPr lang="en-AU" dirty="0"/>
              <a:t>:</a:t>
            </a:r>
          </a:p>
          <a:p>
            <a:pPr lvl="1"/>
            <a:r>
              <a:rPr lang="en-AU" dirty="0"/>
              <a:t>Uncertain Placing Spot Scenario: </a:t>
            </a:r>
            <a:r>
              <a:rPr lang="en-AU" dirty="0" err="1"/>
              <a:t>scenario_vision.ipynb</a:t>
            </a:r>
            <a:endParaRPr lang="en-AU" dirty="0"/>
          </a:p>
          <a:p>
            <a:pPr lvl="1"/>
            <a:r>
              <a:rPr lang="en-AU" dirty="0"/>
              <a:t>Dynamic Movement Scenario: scenario_3.ipynb</a:t>
            </a:r>
          </a:p>
          <a:p>
            <a:pPr lvl="1"/>
            <a:r>
              <a:rPr lang="en-AU" dirty="0"/>
              <a:t>Varying Threshold Scenario: scenario_3.ipynb </a:t>
            </a:r>
          </a:p>
          <a:p>
            <a:pPr lvl="1"/>
            <a:r>
              <a:rPr lang="en-AU" dirty="0"/>
              <a:t>Probabilistic Algorithm Performance in Known Goal Scenario: </a:t>
            </a:r>
            <a:r>
              <a:rPr lang="en-AU" dirty="0" err="1"/>
              <a:t>scenario_vision.ipynb</a:t>
            </a:r>
            <a:r>
              <a:rPr lang="en-AU" dirty="0"/>
              <a:t> (by editing out the if/else regarding the </a:t>
            </a:r>
            <a:r>
              <a:rPr lang="en-AU" dirty="0" err="1"/>
              <a:t>apriltag</a:t>
            </a:r>
            <a:r>
              <a:rPr lang="en-AU" dirty="0"/>
              <a:t>)</a:t>
            </a:r>
            <a:endParaRPr lang="en-US" dirty="0"/>
          </a:p>
          <a:p>
            <a:r>
              <a:rPr lang="en-US" dirty="0"/>
              <a:t>A simulation can be ran by running simulation </a:t>
            </a:r>
            <a:r>
              <a:rPr lang="en-US" dirty="0" err="1"/>
              <a:t>plant_simulation.ipynb</a:t>
            </a:r>
            <a:r>
              <a:rPr lang="en-US" dirty="0"/>
              <a:t> and changing the simulation flag to true in the </a:t>
            </a:r>
            <a:r>
              <a:rPr lang="en-US" dirty="0" err="1"/>
              <a:t>camera_processing</a:t>
            </a:r>
            <a:r>
              <a:rPr lang="en-US" dirty="0"/>
              <a:t> script.</a:t>
            </a:r>
          </a:p>
          <a:p>
            <a:endParaRPr lang="en-US" dirty="0"/>
          </a:p>
          <a:p>
            <a:pPr marL="0" indent="0">
              <a:buNone/>
            </a:pPr>
            <a:endParaRPr lang="en-AU" dirty="0"/>
          </a:p>
        </p:txBody>
      </p:sp>
      <p:pic>
        <p:nvPicPr>
          <p:cNvPr id="9" name="Picture 8">
            <a:extLst>
              <a:ext uri="{FF2B5EF4-FFF2-40B4-BE49-F238E27FC236}">
                <a16:creationId xmlns:a16="http://schemas.microsoft.com/office/drawing/2014/main" id="{C901C22D-18BB-15D3-1C37-32E237C173E5}"/>
              </a:ext>
            </a:extLst>
          </p:cNvPr>
          <p:cNvPicPr>
            <a:picLocks noChangeAspect="1"/>
          </p:cNvPicPr>
          <p:nvPr/>
        </p:nvPicPr>
        <p:blipFill>
          <a:blip r:embed="rId2"/>
          <a:stretch>
            <a:fillRect/>
          </a:stretch>
        </p:blipFill>
        <p:spPr>
          <a:xfrm>
            <a:off x="0" y="6500212"/>
            <a:ext cx="412313" cy="357788"/>
          </a:xfrm>
          <a:prstGeom prst="rect">
            <a:avLst/>
          </a:prstGeom>
        </p:spPr>
      </p:pic>
    </p:spTree>
    <p:extLst>
      <p:ext uri="{BB962C8B-B14F-4D97-AF65-F5344CB8AC3E}">
        <p14:creationId xmlns:p14="http://schemas.microsoft.com/office/powerpoint/2010/main" val="2642033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FEFB-12F2-45AE-3A35-6E97A6BB0D43}"/>
              </a:ext>
            </a:extLst>
          </p:cNvPr>
          <p:cNvSpPr>
            <a:spLocks noGrp="1"/>
          </p:cNvSpPr>
          <p:nvPr>
            <p:ph type="title"/>
          </p:nvPr>
        </p:nvSpPr>
        <p:spPr/>
        <p:txBody>
          <a:bodyPr/>
          <a:lstStyle/>
          <a:p>
            <a:r>
              <a:rPr lang="en-US" dirty="0"/>
              <a:t>Control Script</a:t>
            </a:r>
            <a:endParaRPr lang="LID4096" dirty="0"/>
          </a:p>
        </p:txBody>
      </p:sp>
      <p:sp>
        <p:nvSpPr>
          <p:cNvPr id="3" name="Content Placeholder 2">
            <a:extLst>
              <a:ext uri="{FF2B5EF4-FFF2-40B4-BE49-F238E27FC236}">
                <a16:creationId xmlns:a16="http://schemas.microsoft.com/office/drawing/2014/main" id="{F1941DA6-482F-2B7F-34EA-557D063B933C}"/>
              </a:ext>
            </a:extLst>
          </p:cNvPr>
          <p:cNvSpPr>
            <a:spLocks noGrp="1"/>
          </p:cNvSpPr>
          <p:nvPr>
            <p:ph idx="1"/>
          </p:nvPr>
        </p:nvSpPr>
        <p:spPr/>
        <p:txBody>
          <a:bodyPr>
            <a:normAutofit fontScale="85000" lnSpcReduction="20000"/>
          </a:bodyPr>
          <a:lstStyle/>
          <a:p>
            <a:r>
              <a:rPr lang="en-US" dirty="0"/>
              <a:t>In general, the control scripts work as follows:</a:t>
            </a:r>
          </a:p>
          <a:p>
            <a:r>
              <a:rPr lang="en-US" dirty="0"/>
              <a:t>the MPC is loaded/generated</a:t>
            </a:r>
          </a:p>
          <a:p>
            <a:r>
              <a:rPr lang="en-US" dirty="0"/>
              <a:t>some initial trajectories are generated, this means solving the MPC starting from multiple initial guesses (based on a combination of all the possible the inverse kinematics from the starting position) , usually first ignoring collision and then mildly </a:t>
            </a:r>
            <a:r>
              <a:rPr lang="en-US" dirty="0" err="1"/>
              <a:t>desconsidering</a:t>
            </a:r>
            <a:r>
              <a:rPr lang="en-US" dirty="0"/>
              <a:t> (by relaxing the col. constraint a bit) it and then fully solving the proper problem (by selecting one of the previous solves and resolving it considering the latest collision info). This can be shortcut by simply saving one of the previous solves and reloading using </a:t>
            </a:r>
            <a:r>
              <a:rPr lang="en-US" dirty="0" err="1"/>
              <a:t>pickle.load</a:t>
            </a:r>
            <a:r>
              <a:rPr lang="en-US" dirty="0"/>
              <a:t>. One of my previous scripts has an automated procedure of generating multiple trajectories and selecting the one that best  fits the current initial/final pose reference (I changed a couple things afterwards and never updated this script, but that's the rough idea and should be fairly easy to recreate).</a:t>
            </a:r>
          </a:p>
          <a:p>
            <a:r>
              <a:rPr lang="en-US" dirty="0"/>
              <a:t>the previously generated trajectory is used as the first initial solve of the MPC loop.</a:t>
            </a:r>
          </a:p>
          <a:p>
            <a:endParaRPr lang="LID4096" dirty="0"/>
          </a:p>
        </p:txBody>
      </p:sp>
      <p:pic>
        <p:nvPicPr>
          <p:cNvPr id="5" name="Picture 4">
            <a:extLst>
              <a:ext uri="{FF2B5EF4-FFF2-40B4-BE49-F238E27FC236}">
                <a16:creationId xmlns:a16="http://schemas.microsoft.com/office/drawing/2014/main" id="{63BB8005-381F-351E-F829-859F69D4C10C}"/>
              </a:ext>
            </a:extLst>
          </p:cNvPr>
          <p:cNvPicPr>
            <a:picLocks noChangeAspect="1"/>
          </p:cNvPicPr>
          <p:nvPr/>
        </p:nvPicPr>
        <p:blipFill>
          <a:blip r:embed="rId2"/>
          <a:stretch>
            <a:fillRect/>
          </a:stretch>
        </p:blipFill>
        <p:spPr>
          <a:xfrm>
            <a:off x="0" y="6350156"/>
            <a:ext cx="511200" cy="507844"/>
          </a:xfrm>
          <a:prstGeom prst="rect">
            <a:avLst/>
          </a:prstGeom>
        </p:spPr>
      </p:pic>
    </p:spTree>
    <p:extLst>
      <p:ext uri="{BB962C8B-B14F-4D97-AF65-F5344CB8AC3E}">
        <p14:creationId xmlns:p14="http://schemas.microsoft.com/office/powerpoint/2010/main" val="786127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8DC06-77C3-C98B-33AA-D22D7ED69359}"/>
              </a:ext>
            </a:extLst>
          </p:cNvPr>
          <p:cNvSpPr>
            <a:spLocks noGrp="1"/>
          </p:cNvSpPr>
          <p:nvPr>
            <p:ph type="title"/>
          </p:nvPr>
        </p:nvSpPr>
        <p:spPr/>
        <p:txBody>
          <a:bodyPr/>
          <a:lstStyle/>
          <a:p>
            <a:r>
              <a:rPr lang="en-US" dirty="0"/>
              <a:t>Notes</a:t>
            </a:r>
            <a:endParaRPr lang="LID4096" dirty="0"/>
          </a:p>
        </p:txBody>
      </p:sp>
      <p:sp>
        <p:nvSpPr>
          <p:cNvPr id="3" name="Content Placeholder 2">
            <a:extLst>
              <a:ext uri="{FF2B5EF4-FFF2-40B4-BE49-F238E27FC236}">
                <a16:creationId xmlns:a16="http://schemas.microsoft.com/office/drawing/2014/main" id="{031722C3-A655-0A2A-A0C3-C20556D0151B}"/>
              </a:ext>
            </a:extLst>
          </p:cNvPr>
          <p:cNvSpPr>
            <a:spLocks noGrp="1"/>
          </p:cNvSpPr>
          <p:nvPr>
            <p:ph idx="1"/>
          </p:nvPr>
        </p:nvSpPr>
        <p:spPr/>
        <p:txBody>
          <a:bodyPr>
            <a:normAutofit fontScale="85000" lnSpcReduction="10000"/>
          </a:bodyPr>
          <a:lstStyle/>
          <a:p>
            <a:r>
              <a:rPr lang="en-US" dirty="0"/>
              <a:t>Be sure to add the root folder (the one with this readme) of the master thesis to the python path, using either .</a:t>
            </a:r>
            <a:r>
              <a:rPr lang="en-US" dirty="0" err="1"/>
              <a:t>bashrc</a:t>
            </a:r>
            <a:r>
              <a:rPr lang="en-US" dirty="0"/>
              <a:t> or import sys; </a:t>
            </a:r>
            <a:r>
              <a:rPr lang="en-US" dirty="0" err="1"/>
              <a:t>sys.path.append</a:t>
            </a:r>
            <a:r>
              <a:rPr lang="en-US" dirty="0"/>
              <a:t>(</a:t>
            </a:r>
            <a:r>
              <a:rPr lang="en-US" dirty="0" err="1"/>
              <a:t>path_to_root</a:t>
            </a:r>
            <a:r>
              <a:rPr lang="en-US" dirty="0"/>
              <a:t>) inside the python program themselves.</a:t>
            </a:r>
          </a:p>
          <a:p>
            <a:r>
              <a:rPr lang="en-US" dirty="0"/>
              <a:t>The </a:t>
            </a:r>
            <a:r>
              <a:rPr lang="en-US" dirty="0" err="1"/>
              <a:t>svm_learning_prob</a:t>
            </a:r>
            <a:r>
              <a:rPr lang="en-US" dirty="0"/>
              <a:t> and the </a:t>
            </a:r>
            <a:r>
              <a:rPr lang="en-US" dirty="0" err="1"/>
              <a:t>scenario_vision</a:t>
            </a:r>
            <a:r>
              <a:rPr lang="en-US" dirty="0"/>
              <a:t> programs have instructions inside them to show what cells to run. The other programs follow the same logic.</a:t>
            </a:r>
          </a:p>
          <a:p>
            <a:r>
              <a:rPr lang="en-US" dirty="0"/>
              <a:t>The included </a:t>
            </a:r>
            <a:r>
              <a:rPr lang="en-US" dirty="0" err="1"/>
              <a:t>Dockerfile</a:t>
            </a:r>
            <a:r>
              <a:rPr lang="en-US" dirty="0"/>
              <a:t> might not include all the necessary packages used, but it should provide the commands to install the most important ones.</a:t>
            </a:r>
          </a:p>
          <a:p>
            <a:r>
              <a:rPr lang="en-US" dirty="0"/>
              <a:t>Each scenario might have a slightly different MPC formulation, parameters can be changed and the MPC can be rebuilt by switching the rebuild flag in the control scripts. If rebuild is false, it will simply load the previous .so files.</a:t>
            </a:r>
          </a:p>
          <a:p>
            <a:pPr marL="0" indent="0">
              <a:buNone/>
            </a:pPr>
            <a:r>
              <a:rPr lang="en-US" dirty="0"/>
              <a:t> </a:t>
            </a:r>
          </a:p>
          <a:p>
            <a:endParaRPr lang="en-US" dirty="0"/>
          </a:p>
          <a:p>
            <a:endParaRPr lang="LID4096" dirty="0"/>
          </a:p>
        </p:txBody>
      </p:sp>
      <p:pic>
        <p:nvPicPr>
          <p:cNvPr id="6" name="Picture 5">
            <a:extLst>
              <a:ext uri="{FF2B5EF4-FFF2-40B4-BE49-F238E27FC236}">
                <a16:creationId xmlns:a16="http://schemas.microsoft.com/office/drawing/2014/main" id="{7E90BC74-A535-7CC6-19DD-149F56ABFAAF}"/>
              </a:ext>
            </a:extLst>
          </p:cNvPr>
          <p:cNvPicPr>
            <a:picLocks noChangeAspect="1"/>
          </p:cNvPicPr>
          <p:nvPr/>
        </p:nvPicPr>
        <p:blipFill>
          <a:blip r:embed="rId2"/>
          <a:stretch>
            <a:fillRect/>
          </a:stretch>
        </p:blipFill>
        <p:spPr>
          <a:xfrm>
            <a:off x="0" y="6417802"/>
            <a:ext cx="440893" cy="440198"/>
          </a:xfrm>
          <a:prstGeom prst="rect">
            <a:avLst/>
          </a:prstGeom>
        </p:spPr>
      </p:pic>
    </p:spTree>
    <p:extLst>
      <p:ext uri="{BB962C8B-B14F-4D97-AF65-F5344CB8AC3E}">
        <p14:creationId xmlns:p14="http://schemas.microsoft.com/office/powerpoint/2010/main" val="44890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A86C9-7FF4-5786-44FE-039828D2DAE9}"/>
              </a:ext>
            </a:extLst>
          </p:cNvPr>
          <p:cNvSpPr>
            <a:spLocks noGrp="1"/>
          </p:cNvSpPr>
          <p:nvPr>
            <p:ph type="title"/>
          </p:nvPr>
        </p:nvSpPr>
        <p:spPr/>
        <p:txBody>
          <a:bodyPr/>
          <a:lstStyle/>
          <a:p>
            <a:r>
              <a:rPr lang="en-US" dirty="0"/>
              <a:t>Debugging</a:t>
            </a:r>
            <a:endParaRPr lang="LID4096" dirty="0"/>
          </a:p>
        </p:txBody>
      </p:sp>
      <p:sp>
        <p:nvSpPr>
          <p:cNvPr id="3" name="Content Placeholder 2">
            <a:extLst>
              <a:ext uri="{FF2B5EF4-FFF2-40B4-BE49-F238E27FC236}">
                <a16:creationId xmlns:a16="http://schemas.microsoft.com/office/drawing/2014/main" id="{E30BA33E-47ED-B7FE-155A-16DF661B3C25}"/>
              </a:ext>
            </a:extLst>
          </p:cNvPr>
          <p:cNvSpPr>
            <a:spLocks noGrp="1"/>
          </p:cNvSpPr>
          <p:nvPr>
            <p:ph idx="1"/>
          </p:nvPr>
        </p:nvSpPr>
        <p:spPr/>
        <p:txBody>
          <a:bodyPr>
            <a:normAutofit fontScale="92500" lnSpcReduction="20000"/>
          </a:bodyPr>
          <a:lstStyle/>
          <a:p>
            <a:r>
              <a:rPr lang="en-US" dirty="0"/>
              <a:t>If something seems off do:</a:t>
            </a:r>
          </a:p>
          <a:p>
            <a:pPr marL="0" indent="0">
              <a:buNone/>
            </a:pPr>
            <a:r>
              <a:rPr lang="en-US" dirty="0" err="1"/>
              <a:t>pfkill</a:t>
            </a:r>
            <a:r>
              <a:rPr lang="en-US" dirty="0"/>
              <a:t> -f "python3"</a:t>
            </a:r>
          </a:p>
          <a:p>
            <a:pPr marL="0" indent="0">
              <a:buNone/>
            </a:pPr>
            <a:r>
              <a:rPr lang="en-US" dirty="0"/>
              <a:t>and start all the programs again</a:t>
            </a:r>
          </a:p>
          <a:p>
            <a:r>
              <a:rPr lang="en-US" dirty="0"/>
              <a:t>Possible reasons: </a:t>
            </a:r>
          </a:p>
          <a:p>
            <a:pPr lvl="1"/>
            <a:r>
              <a:rPr lang="en-US" dirty="0"/>
              <a:t>some process (learning, camera processing) died in the background</a:t>
            </a:r>
          </a:p>
          <a:p>
            <a:pPr lvl="1"/>
            <a:r>
              <a:rPr lang="en-US" dirty="0"/>
              <a:t>the </a:t>
            </a:r>
            <a:r>
              <a:rPr lang="en-US" dirty="0" err="1"/>
              <a:t>interprocess</a:t>
            </a:r>
            <a:r>
              <a:rPr lang="en-US" dirty="0"/>
              <a:t> shared memory got messed up (often happens if any of the program that uses it dies and needs to be restarted).</a:t>
            </a:r>
          </a:p>
          <a:p>
            <a:r>
              <a:rPr lang="en-US" dirty="0"/>
              <a:t>If everything starts running slow </a:t>
            </a:r>
            <a:r>
              <a:rPr lang="en-US" dirty="0" err="1"/>
              <a:t>slow</a:t>
            </a:r>
            <a:r>
              <a:rPr lang="en-US" dirty="0"/>
              <a:t>, it might be because the some of the spawned processes (such as the learning group workers) didn't die from a previous run, so run </a:t>
            </a:r>
          </a:p>
          <a:p>
            <a:pPr marL="0" indent="0">
              <a:buNone/>
            </a:pPr>
            <a:r>
              <a:rPr lang="en-US" dirty="0" err="1"/>
              <a:t>pfkill</a:t>
            </a:r>
            <a:r>
              <a:rPr lang="en-US" dirty="0"/>
              <a:t> -f "from multiprocessing" </a:t>
            </a:r>
          </a:p>
          <a:p>
            <a:pPr marL="0" indent="0">
              <a:buNone/>
            </a:pPr>
            <a:r>
              <a:rPr lang="en-US" dirty="0"/>
              <a:t>to kill the multiprocessing processes.</a:t>
            </a:r>
          </a:p>
          <a:p>
            <a:endParaRPr lang="LID4096" dirty="0"/>
          </a:p>
        </p:txBody>
      </p:sp>
      <p:pic>
        <p:nvPicPr>
          <p:cNvPr id="6" name="Picture 5">
            <a:extLst>
              <a:ext uri="{FF2B5EF4-FFF2-40B4-BE49-F238E27FC236}">
                <a16:creationId xmlns:a16="http://schemas.microsoft.com/office/drawing/2014/main" id="{2C0F4641-C9C7-4FEA-0709-1C0FB23A6E1A}"/>
              </a:ext>
            </a:extLst>
          </p:cNvPr>
          <p:cNvPicPr>
            <a:picLocks noChangeAspect="1"/>
          </p:cNvPicPr>
          <p:nvPr/>
        </p:nvPicPr>
        <p:blipFill>
          <a:blip r:embed="rId2"/>
          <a:stretch>
            <a:fillRect/>
          </a:stretch>
        </p:blipFill>
        <p:spPr>
          <a:xfrm>
            <a:off x="0" y="6405468"/>
            <a:ext cx="453989" cy="452532"/>
          </a:xfrm>
          <a:prstGeom prst="rect">
            <a:avLst/>
          </a:prstGeom>
        </p:spPr>
      </p:pic>
    </p:spTree>
    <p:extLst>
      <p:ext uri="{BB962C8B-B14F-4D97-AF65-F5344CB8AC3E}">
        <p14:creationId xmlns:p14="http://schemas.microsoft.com/office/powerpoint/2010/main" val="457929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C44FE-4A1D-9A41-30C6-B55607D65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6DD4F-A937-49B5-20F2-CE4ACCC3EC92}"/>
              </a:ext>
            </a:extLst>
          </p:cNvPr>
          <p:cNvSpPr>
            <a:spLocks noGrp="1"/>
          </p:cNvSpPr>
          <p:nvPr>
            <p:ph type="title"/>
          </p:nvPr>
        </p:nvSpPr>
        <p:spPr/>
        <p:txBody>
          <a:bodyPr/>
          <a:lstStyle/>
          <a:p>
            <a:r>
              <a:rPr lang="en-US" dirty="0"/>
              <a:t>Programs Overview</a:t>
            </a:r>
            <a:endParaRPr lang="LID4096" dirty="0"/>
          </a:p>
        </p:txBody>
      </p:sp>
      <p:sp>
        <p:nvSpPr>
          <p:cNvPr id="3" name="Content Placeholder 2">
            <a:extLst>
              <a:ext uri="{FF2B5EF4-FFF2-40B4-BE49-F238E27FC236}">
                <a16:creationId xmlns:a16="http://schemas.microsoft.com/office/drawing/2014/main" id="{AE445A48-9AA1-F7F5-3258-9A4DA475FB03}"/>
              </a:ext>
            </a:extLst>
          </p:cNvPr>
          <p:cNvSpPr>
            <a:spLocks noGrp="1"/>
          </p:cNvSpPr>
          <p:nvPr>
            <p:ph idx="1"/>
          </p:nvPr>
        </p:nvSpPr>
        <p:spPr/>
        <p:txBody>
          <a:bodyPr>
            <a:normAutofit fontScale="92500" lnSpcReduction="10000"/>
          </a:bodyPr>
          <a:lstStyle/>
          <a:p>
            <a:r>
              <a:rPr lang="en-AU" dirty="0" err="1"/>
              <a:t>camera_processing.ipynb</a:t>
            </a:r>
            <a:endParaRPr lang="en-AU" dirty="0"/>
          </a:p>
          <a:p>
            <a:pPr marL="0" indent="0">
              <a:buNone/>
            </a:pPr>
            <a:r>
              <a:rPr lang="en-US" dirty="0"/>
              <a:t>This script reads the data from the cameras and the data from the robots and uses that for the processing script. The processing program is defined in </a:t>
            </a:r>
            <a:r>
              <a:rPr lang="en-US" dirty="0" err="1"/>
              <a:t>diff_co_mpc</a:t>
            </a:r>
            <a:r>
              <a:rPr lang="en-US" dirty="0"/>
              <a:t>/</a:t>
            </a:r>
            <a:r>
              <a:rPr lang="en-US" dirty="0" err="1"/>
              <a:t>point_cloud</a:t>
            </a:r>
            <a:r>
              <a:rPr lang="en-US" dirty="0"/>
              <a:t>/. The </a:t>
            </a:r>
            <a:r>
              <a:rPr lang="en-US" dirty="0" err="1"/>
              <a:t>PreprocessPointCloud</a:t>
            </a:r>
            <a:r>
              <a:rPr lang="en-US" dirty="0"/>
              <a:t> system gets the data from the cameras and sends to a second process, the point cloud worker that is </a:t>
            </a:r>
            <a:r>
              <a:rPr lang="en-US" dirty="0" err="1"/>
              <a:t>continously</a:t>
            </a:r>
            <a:r>
              <a:rPr lang="en-US" dirty="0"/>
              <a:t> working in the </a:t>
            </a:r>
            <a:r>
              <a:rPr lang="en-US" dirty="0" err="1"/>
              <a:t>backgroud</a:t>
            </a:r>
            <a:r>
              <a:rPr lang="en-US" dirty="0"/>
              <a:t>. </a:t>
            </a:r>
          </a:p>
          <a:p>
            <a:pPr marL="0" indent="0">
              <a:buNone/>
            </a:pPr>
            <a:r>
              <a:rPr lang="en-US" dirty="0"/>
              <a:t>Data is sent to it, and it processes it in a non blocking manner. When it is ready, it sends a message back and the main program reads the processed PC.</a:t>
            </a:r>
          </a:p>
          <a:p>
            <a:pPr marL="0" indent="0">
              <a:buNone/>
            </a:pPr>
            <a:r>
              <a:rPr lang="en-US" dirty="0"/>
              <a:t>The algorithm described in the thesis is implemented in the </a:t>
            </a:r>
            <a:r>
              <a:rPr lang="en-US" dirty="0" err="1"/>
              <a:t>point_cloud_worker</a:t>
            </a:r>
            <a:r>
              <a:rPr lang="en-US" dirty="0"/>
              <a:t>() function, in point_cloud_processing.py.</a:t>
            </a:r>
          </a:p>
          <a:p>
            <a:pPr marL="0" indent="0">
              <a:buNone/>
            </a:pPr>
            <a:endParaRPr lang="en-US" dirty="0"/>
          </a:p>
          <a:p>
            <a:pPr marL="0" indent="0">
              <a:buNone/>
            </a:pPr>
            <a:endParaRPr lang="en-AU" dirty="0"/>
          </a:p>
          <a:p>
            <a:endParaRPr lang="LID4096" dirty="0"/>
          </a:p>
        </p:txBody>
      </p:sp>
      <p:pic>
        <p:nvPicPr>
          <p:cNvPr id="6" name="Picture 5">
            <a:extLst>
              <a:ext uri="{FF2B5EF4-FFF2-40B4-BE49-F238E27FC236}">
                <a16:creationId xmlns:a16="http://schemas.microsoft.com/office/drawing/2014/main" id="{C2301BF5-9AEE-3782-58F6-79A75BEA0971}"/>
              </a:ext>
            </a:extLst>
          </p:cNvPr>
          <p:cNvPicPr>
            <a:picLocks noChangeAspect="1"/>
          </p:cNvPicPr>
          <p:nvPr/>
        </p:nvPicPr>
        <p:blipFill>
          <a:blip r:embed="rId2"/>
          <a:stretch>
            <a:fillRect/>
          </a:stretch>
        </p:blipFill>
        <p:spPr>
          <a:xfrm>
            <a:off x="0" y="6359175"/>
            <a:ext cx="450376" cy="449647"/>
          </a:xfrm>
          <a:prstGeom prst="rect">
            <a:avLst/>
          </a:prstGeom>
        </p:spPr>
      </p:pic>
    </p:spTree>
    <p:extLst>
      <p:ext uri="{BB962C8B-B14F-4D97-AF65-F5344CB8AC3E}">
        <p14:creationId xmlns:p14="http://schemas.microsoft.com/office/powerpoint/2010/main" val="1028303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FD0CC-845E-8A43-EC44-A7CD51E92D66}"/>
              </a:ext>
            </a:extLst>
          </p:cNvPr>
          <p:cNvSpPr>
            <a:spLocks noGrp="1"/>
          </p:cNvSpPr>
          <p:nvPr>
            <p:ph type="title"/>
          </p:nvPr>
        </p:nvSpPr>
        <p:spPr/>
        <p:txBody>
          <a:bodyPr/>
          <a:lstStyle/>
          <a:p>
            <a:r>
              <a:rPr lang="en-US" dirty="0"/>
              <a:t>Programs Overview</a:t>
            </a:r>
            <a:endParaRPr lang="LID4096" dirty="0"/>
          </a:p>
        </p:txBody>
      </p:sp>
      <p:sp>
        <p:nvSpPr>
          <p:cNvPr id="3" name="Content Placeholder 2">
            <a:extLst>
              <a:ext uri="{FF2B5EF4-FFF2-40B4-BE49-F238E27FC236}">
                <a16:creationId xmlns:a16="http://schemas.microsoft.com/office/drawing/2014/main" id="{4A61615B-BE0A-5200-64B4-EF9D261993CF}"/>
              </a:ext>
            </a:extLst>
          </p:cNvPr>
          <p:cNvSpPr>
            <a:spLocks noGrp="1"/>
          </p:cNvSpPr>
          <p:nvPr>
            <p:ph idx="1"/>
          </p:nvPr>
        </p:nvSpPr>
        <p:spPr/>
        <p:txBody>
          <a:bodyPr>
            <a:normAutofit fontScale="92500" lnSpcReduction="20000"/>
          </a:bodyPr>
          <a:lstStyle/>
          <a:p>
            <a:r>
              <a:rPr lang="en-AU" dirty="0" err="1"/>
              <a:t>svm_learning</a:t>
            </a:r>
            <a:r>
              <a:rPr lang="en-AU" dirty="0"/>
              <a:t>*.</a:t>
            </a:r>
            <a:r>
              <a:rPr lang="en-AU" dirty="0" err="1"/>
              <a:t>ipynb</a:t>
            </a:r>
            <a:endParaRPr lang="en-AU" dirty="0"/>
          </a:p>
          <a:p>
            <a:pPr marL="0" indent="0">
              <a:buNone/>
            </a:pPr>
            <a:r>
              <a:rPr lang="en-US" dirty="0"/>
              <a:t>The main parts are defined in </a:t>
            </a:r>
            <a:r>
              <a:rPr lang="en-US" dirty="0" err="1"/>
              <a:t>diff_co_mpc</a:t>
            </a:r>
            <a:r>
              <a:rPr lang="en-US" dirty="0"/>
              <a:t>/</a:t>
            </a:r>
            <a:r>
              <a:rPr lang="en-US" dirty="0" err="1"/>
              <a:t>diff_co</a:t>
            </a:r>
            <a:r>
              <a:rPr lang="en-US" dirty="0"/>
              <a:t>. The source folder contains the perceptron learning algorithm in </a:t>
            </a:r>
            <a:r>
              <a:rPr lang="en-US" dirty="0" err="1"/>
              <a:t>cpp</a:t>
            </a:r>
            <a:r>
              <a:rPr lang="en-US" dirty="0"/>
              <a:t>. </a:t>
            </a:r>
          </a:p>
          <a:p>
            <a:pPr marL="0" indent="0">
              <a:buNone/>
            </a:pPr>
            <a:r>
              <a:rPr lang="en-US" dirty="0"/>
              <a:t>In learning.py the rest of the learning algorithm is defined as explained in the thesis. Each robot has a support vector worker and each of those has 4 group workers, each of those groups learns the support vector and the weights correspondent exclusively to the links as defined in the </a:t>
            </a:r>
            <a:r>
              <a:rPr lang="en-US" dirty="0" err="1"/>
              <a:t>config.yaml</a:t>
            </a:r>
            <a:r>
              <a:rPr lang="en-US" dirty="0"/>
              <a:t>. </a:t>
            </a:r>
          </a:p>
          <a:p>
            <a:pPr marL="0" indent="0">
              <a:buNone/>
            </a:pPr>
            <a:r>
              <a:rPr lang="en-US" dirty="0"/>
              <a:t>Each group worker is one instance of the algorithm as described in the thesis.</a:t>
            </a:r>
          </a:p>
          <a:p>
            <a:pPr marL="0" indent="0">
              <a:buNone/>
            </a:pPr>
            <a:r>
              <a:rPr lang="en-US" dirty="0"/>
              <a:t>All of that is running using multiprocessing, so each worker is running in parallel.</a:t>
            </a:r>
          </a:p>
          <a:p>
            <a:pPr marL="0" indent="0">
              <a:buNone/>
            </a:pPr>
            <a:endParaRPr lang="en-AU" dirty="0"/>
          </a:p>
          <a:p>
            <a:endParaRPr lang="LID4096" dirty="0"/>
          </a:p>
        </p:txBody>
      </p:sp>
      <p:pic>
        <p:nvPicPr>
          <p:cNvPr id="8" name="Picture 7">
            <a:extLst>
              <a:ext uri="{FF2B5EF4-FFF2-40B4-BE49-F238E27FC236}">
                <a16:creationId xmlns:a16="http://schemas.microsoft.com/office/drawing/2014/main" id="{E85BA20A-84F9-8D8B-17B4-52819E849486}"/>
              </a:ext>
            </a:extLst>
          </p:cNvPr>
          <p:cNvPicPr>
            <a:picLocks noChangeAspect="1"/>
          </p:cNvPicPr>
          <p:nvPr/>
        </p:nvPicPr>
        <p:blipFill>
          <a:blip r:embed="rId2"/>
          <a:stretch>
            <a:fillRect/>
          </a:stretch>
        </p:blipFill>
        <p:spPr>
          <a:xfrm>
            <a:off x="0" y="6437871"/>
            <a:ext cx="478013" cy="420129"/>
          </a:xfrm>
          <a:prstGeom prst="rect">
            <a:avLst/>
          </a:prstGeom>
        </p:spPr>
      </p:pic>
    </p:spTree>
    <p:extLst>
      <p:ext uri="{BB962C8B-B14F-4D97-AF65-F5344CB8AC3E}">
        <p14:creationId xmlns:p14="http://schemas.microsoft.com/office/powerpoint/2010/main" val="841801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C8E42-599A-4420-00E6-6741DE459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98FA3C-ECC1-32AF-3B0E-06D58999020F}"/>
              </a:ext>
            </a:extLst>
          </p:cNvPr>
          <p:cNvSpPr>
            <a:spLocks noGrp="1"/>
          </p:cNvSpPr>
          <p:nvPr>
            <p:ph type="title"/>
          </p:nvPr>
        </p:nvSpPr>
        <p:spPr/>
        <p:txBody>
          <a:bodyPr/>
          <a:lstStyle/>
          <a:p>
            <a:r>
              <a:rPr lang="en-US" dirty="0"/>
              <a:t>Programs Overview</a:t>
            </a:r>
            <a:endParaRPr lang="LID4096" dirty="0"/>
          </a:p>
        </p:txBody>
      </p:sp>
      <p:sp>
        <p:nvSpPr>
          <p:cNvPr id="3" name="Content Placeholder 2">
            <a:extLst>
              <a:ext uri="{FF2B5EF4-FFF2-40B4-BE49-F238E27FC236}">
                <a16:creationId xmlns:a16="http://schemas.microsoft.com/office/drawing/2014/main" id="{396C289E-C4F6-BF1A-85E7-48227BC61FA9}"/>
              </a:ext>
            </a:extLst>
          </p:cNvPr>
          <p:cNvSpPr>
            <a:spLocks noGrp="1"/>
          </p:cNvSpPr>
          <p:nvPr>
            <p:ph idx="1"/>
          </p:nvPr>
        </p:nvSpPr>
        <p:spPr/>
        <p:txBody>
          <a:bodyPr>
            <a:normAutofit fontScale="62500" lnSpcReduction="20000"/>
          </a:bodyPr>
          <a:lstStyle/>
          <a:p>
            <a:r>
              <a:rPr lang="en-AU" dirty="0"/>
              <a:t> control algorithm</a:t>
            </a:r>
          </a:p>
          <a:p>
            <a:pPr marL="0" indent="0">
              <a:buNone/>
            </a:pPr>
            <a:r>
              <a:rPr lang="en-US" dirty="0"/>
              <a:t>The MPC and helper functions are defined in the </a:t>
            </a:r>
            <a:r>
              <a:rPr lang="en-US" dirty="0" err="1"/>
              <a:t>mpc</a:t>
            </a:r>
            <a:r>
              <a:rPr lang="en-US" dirty="0"/>
              <a:t> folder. In the optimisation.py the </a:t>
            </a:r>
            <a:r>
              <a:rPr lang="en-US" dirty="0" err="1"/>
              <a:t>OptimizationInfo</a:t>
            </a:r>
            <a:r>
              <a:rPr lang="en-US" dirty="0"/>
              <a:t> class contains the MPC functions and in the planner_implementation/make.py those functions are called to define the MPC itself. The </a:t>
            </a:r>
            <a:r>
              <a:rPr lang="en-US" dirty="0" err="1"/>
              <a:t>optimisation</a:t>
            </a:r>
            <a:r>
              <a:rPr lang="en-US" dirty="0"/>
              <a:t> variables and parameters are declared in the setup. </a:t>
            </a:r>
          </a:p>
          <a:p>
            <a:pPr marL="0" indent="0">
              <a:buNone/>
            </a:pPr>
            <a:r>
              <a:rPr lang="en-US" dirty="0"/>
              <a:t>The </a:t>
            </a:r>
            <a:r>
              <a:rPr lang="en-US" dirty="0" err="1"/>
              <a:t>OptimizationInfo</a:t>
            </a:r>
            <a:r>
              <a:rPr lang="en-US" dirty="0"/>
              <a:t> class has a bunch of functions that define the constraints and costs in such a way that </a:t>
            </a:r>
            <a:r>
              <a:rPr lang="en-US" dirty="0" err="1"/>
              <a:t>Casadi</a:t>
            </a:r>
            <a:r>
              <a:rPr lang="en-US" dirty="0"/>
              <a:t> is decently behaved. In addition, the MPC trajectory is defined in such a way that the constraints are applied at samples of the trajectory c(</a:t>
            </a:r>
            <a:r>
              <a:rPr lang="en-US" dirty="0" err="1"/>
              <a:t>s_k</a:t>
            </a:r>
            <a:r>
              <a:rPr lang="en-US" dirty="0"/>
              <a:t>), where c(</a:t>
            </a:r>
            <a:r>
              <a:rPr lang="en-US" dirty="0" err="1"/>
              <a:t>s_k</a:t>
            </a:r>
            <a:r>
              <a:rPr lang="en-US" dirty="0"/>
              <a:t>) is a function of the control points (dec. variables).</a:t>
            </a:r>
          </a:p>
          <a:p>
            <a:pPr marL="0" indent="0">
              <a:buNone/>
            </a:pPr>
            <a:r>
              <a:rPr lang="en-US" dirty="0"/>
              <a:t>To make </a:t>
            </a:r>
            <a:r>
              <a:rPr lang="en-US" dirty="0" err="1"/>
              <a:t>Casadi</a:t>
            </a:r>
            <a:r>
              <a:rPr lang="en-US" dirty="0"/>
              <a:t> behave well, it is also necessary to sort of "manually“ apply the chain rule to the constraint function and the inner function c(</a:t>
            </a:r>
            <a:r>
              <a:rPr lang="en-US" dirty="0" err="1"/>
              <a:t>s_k</a:t>
            </a:r>
            <a:r>
              <a:rPr lang="en-US" dirty="0"/>
              <a:t>). Those inner functions are defined in the class as well. The chain rule applied as a map to all the samples using multithreading is done using the functions in custom_casadi.py.</a:t>
            </a:r>
          </a:p>
          <a:p>
            <a:pPr marL="0" indent="0">
              <a:buNone/>
            </a:pPr>
            <a:r>
              <a:rPr lang="en-US" dirty="0"/>
              <a:t>Finally, all the constraints and costs derivatives are put together using </a:t>
            </a:r>
            <a:r>
              <a:rPr lang="en-US" dirty="0" err="1"/>
              <a:t>get_final_hessian</a:t>
            </a:r>
            <a:r>
              <a:rPr lang="en-US" dirty="0"/>
              <a:t> and </a:t>
            </a:r>
            <a:r>
              <a:rPr lang="en-US" dirty="0" err="1"/>
              <a:t>get_final_jacobian</a:t>
            </a:r>
            <a:r>
              <a:rPr lang="en-US" dirty="0"/>
              <a:t>, that gets all those custom defined </a:t>
            </a:r>
            <a:r>
              <a:rPr lang="en-US" dirty="0" err="1"/>
              <a:t>casadi</a:t>
            </a:r>
            <a:r>
              <a:rPr lang="en-US" dirty="0"/>
              <a:t> functions and put them together to make the NLP work.</a:t>
            </a:r>
          </a:p>
          <a:p>
            <a:pPr marL="0" indent="0">
              <a:buNone/>
            </a:pPr>
            <a:r>
              <a:rPr lang="en-US" dirty="0" err="1"/>
              <a:t>OptimizationData</a:t>
            </a:r>
            <a:r>
              <a:rPr lang="en-US" dirty="0"/>
              <a:t> is a helper class to streamline setting the parameters, solving and getting the results. </a:t>
            </a:r>
          </a:p>
          <a:p>
            <a:pPr marL="0" indent="0">
              <a:buNone/>
            </a:pPr>
            <a:endParaRPr lang="en-AU" dirty="0"/>
          </a:p>
          <a:p>
            <a:endParaRPr lang="LID4096" dirty="0"/>
          </a:p>
        </p:txBody>
      </p:sp>
      <p:pic>
        <p:nvPicPr>
          <p:cNvPr id="5" name="Picture 4">
            <a:extLst>
              <a:ext uri="{FF2B5EF4-FFF2-40B4-BE49-F238E27FC236}">
                <a16:creationId xmlns:a16="http://schemas.microsoft.com/office/drawing/2014/main" id="{7502E145-B7A5-01AB-2085-27B20D8A7097}"/>
              </a:ext>
            </a:extLst>
          </p:cNvPr>
          <p:cNvPicPr>
            <a:picLocks noChangeAspect="1"/>
          </p:cNvPicPr>
          <p:nvPr/>
        </p:nvPicPr>
        <p:blipFill>
          <a:blip r:embed="rId2"/>
          <a:stretch>
            <a:fillRect/>
          </a:stretch>
        </p:blipFill>
        <p:spPr>
          <a:xfrm>
            <a:off x="0" y="6411817"/>
            <a:ext cx="559558" cy="446184"/>
          </a:xfrm>
          <a:prstGeom prst="rect">
            <a:avLst/>
          </a:prstGeom>
        </p:spPr>
      </p:pic>
    </p:spTree>
    <p:extLst>
      <p:ext uri="{BB962C8B-B14F-4D97-AF65-F5344CB8AC3E}">
        <p14:creationId xmlns:p14="http://schemas.microsoft.com/office/powerpoint/2010/main" val="3257211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95247-0D5D-B007-276A-377E6F9A8C47}"/>
              </a:ext>
            </a:extLst>
          </p:cNvPr>
          <p:cNvSpPr>
            <a:spLocks noGrp="1"/>
          </p:cNvSpPr>
          <p:nvPr>
            <p:ph type="title"/>
          </p:nvPr>
        </p:nvSpPr>
        <p:spPr/>
        <p:txBody>
          <a:bodyPr/>
          <a:lstStyle/>
          <a:p>
            <a:endParaRPr lang="LID4096"/>
          </a:p>
        </p:txBody>
      </p:sp>
      <p:sp>
        <p:nvSpPr>
          <p:cNvPr id="3" name="Content Placeholder 2">
            <a:extLst>
              <a:ext uri="{FF2B5EF4-FFF2-40B4-BE49-F238E27FC236}">
                <a16:creationId xmlns:a16="http://schemas.microsoft.com/office/drawing/2014/main" id="{E03B81E5-1082-923D-CDAD-F2C8135F44F3}"/>
              </a:ext>
            </a:extLst>
          </p:cNvPr>
          <p:cNvSpPr>
            <a:spLocks noGrp="1"/>
          </p:cNvSpPr>
          <p:nvPr>
            <p:ph idx="1"/>
          </p:nvPr>
        </p:nvSpPr>
        <p:spPr/>
        <p:txBody>
          <a:bodyPr/>
          <a:lstStyle/>
          <a:p>
            <a:endParaRPr lang="LID4096" dirty="0"/>
          </a:p>
        </p:txBody>
      </p:sp>
      <p:pic>
        <p:nvPicPr>
          <p:cNvPr id="7" name="Picture 6">
            <a:extLst>
              <a:ext uri="{FF2B5EF4-FFF2-40B4-BE49-F238E27FC236}">
                <a16:creationId xmlns:a16="http://schemas.microsoft.com/office/drawing/2014/main" id="{01589306-83F5-EA4C-00A7-928AA89DCE56}"/>
              </a:ext>
            </a:extLst>
          </p:cNvPr>
          <p:cNvPicPr>
            <a:picLocks noChangeAspect="1"/>
          </p:cNvPicPr>
          <p:nvPr/>
        </p:nvPicPr>
        <p:blipFill>
          <a:blip r:embed="rId2"/>
          <a:stretch>
            <a:fillRect/>
          </a:stretch>
        </p:blipFill>
        <p:spPr>
          <a:xfrm>
            <a:off x="3282286" y="0"/>
            <a:ext cx="5861714" cy="6957086"/>
          </a:xfrm>
          <a:prstGeom prst="rect">
            <a:avLst/>
          </a:prstGeom>
        </p:spPr>
      </p:pic>
    </p:spTree>
    <p:extLst>
      <p:ext uri="{BB962C8B-B14F-4D97-AF65-F5344CB8AC3E}">
        <p14:creationId xmlns:p14="http://schemas.microsoft.com/office/powerpoint/2010/main" val="3989534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1278</Words>
  <Application>Microsoft Office PowerPoint</Application>
  <PresentationFormat>Widescreen</PresentationFormat>
  <Paragraphs>85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README</vt:lpstr>
      <vt:lpstr>PowerPoint Presentation</vt:lpstr>
      <vt:lpstr>Program run order:</vt:lpstr>
      <vt:lpstr>Control Script</vt:lpstr>
      <vt:lpstr>Notes</vt:lpstr>
      <vt:lpstr>Debugging</vt:lpstr>
      <vt:lpstr>Programs Overview</vt:lpstr>
      <vt:lpstr>Programs Overview</vt:lpstr>
      <vt:lpstr>Programs Overview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ernesto ds</dc:creator>
  <cp:lastModifiedBy>ernesto ds</cp:lastModifiedBy>
  <cp:revision>17</cp:revision>
  <dcterms:created xsi:type="dcterms:W3CDTF">2024-10-23T14:58:28Z</dcterms:created>
  <dcterms:modified xsi:type="dcterms:W3CDTF">2024-10-23T16:00:31Z</dcterms:modified>
</cp:coreProperties>
</file>